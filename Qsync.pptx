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8288000" cy="10287000"/>
  <p:notesSz cx="6858000" cy="9144000"/>
  <p:embeddedFontLst>
    <p:embeddedFont>
      <p:font typeface="Futura Bold" panose="020B0604020202020204" charset="0"/>
      <p:regular r:id="rId34"/>
    </p:embeddedFont>
    <p:embeddedFont>
      <p:font typeface="Varela Round" panose="00000500000000000000" pitchFamily="2" charset="-79"/>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2.pn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4.jpeg"/><Relationship Id="rId5" Type="http://schemas.openxmlformats.org/officeDocument/2006/relationships/image" Target="../media/image4.svg"/><Relationship Id="rId10" Type="http://schemas.openxmlformats.org/officeDocument/2006/relationships/image" Target="../media/image13.jpe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7.jpeg"/><Relationship Id="rId5" Type="http://schemas.openxmlformats.org/officeDocument/2006/relationships/image" Target="../media/image4.svg"/><Relationship Id="rId10" Type="http://schemas.openxmlformats.org/officeDocument/2006/relationships/image" Target="../media/image16.jpeg"/><Relationship Id="rId4" Type="http://schemas.openxmlformats.org/officeDocument/2006/relationships/image" Target="../media/image3.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9.jpeg"/><Relationship Id="rId5" Type="http://schemas.openxmlformats.org/officeDocument/2006/relationships/image" Target="../media/image4.svg"/><Relationship Id="rId10"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3.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2.jpeg"/><Relationship Id="rId5" Type="http://schemas.openxmlformats.org/officeDocument/2006/relationships/image" Target="../media/image4.svg"/><Relationship Id="rId10" Type="http://schemas.openxmlformats.org/officeDocument/2006/relationships/image" Target="../media/image21.jpeg"/><Relationship Id="rId4" Type="http://schemas.openxmlformats.org/officeDocument/2006/relationships/image" Target="../media/image3.pn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5.jpeg"/><Relationship Id="rId5" Type="http://schemas.openxmlformats.org/officeDocument/2006/relationships/image" Target="../media/image4.svg"/><Relationship Id="rId10" Type="http://schemas.openxmlformats.org/officeDocument/2006/relationships/image" Target="../media/image24.jpeg"/><Relationship Id="rId4" Type="http://schemas.openxmlformats.org/officeDocument/2006/relationships/image" Target="../media/image3.png"/><Relationship Id="rId9" Type="http://schemas.openxmlformats.org/officeDocument/2006/relationships/image" Target="../media/image8.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9.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8.jpeg"/><Relationship Id="rId5" Type="http://schemas.openxmlformats.org/officeDocument/2006/relationships/image" Target="../media/image4.svg"/><Relationship Id="rId10" Type="http://schemas.openxmlformats.org/officeDocument/2006/relationships/image" Target="../media/image27.jpeg"/><Relationship Id="rId4" Type="http://schemas.openxmlformats.org/officeDocument/2006/relationships/image" Target="../media/image3.png"/><Relationship Id="rId9" Type="http://schemas.openxmlformats.org/officeDocument/2006/relationships/image" Target="../media/image8.sv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2.pn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8.svg"/></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sv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41.png"/><Relationship Id="rId4" Type="http://schemas.openxmlformats.org/officeDocument/2006/relationships/image" Target="../media/image3.png"/><Relationship Id="rId9"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42.png"/><Relationship Id="rId4" Type="http://schemas.openxmlformats.org/officeDocument/2006/relationships/image" Target="../media/image3.png"/><Relationship Id="rId9" Type="http://schemas.openxmlformats.org/officeDocument/2006/relationships/image" Target="../media/image8.sv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43.png"/><Relationship Id="rId4" Type="http://schemas.openxmlformats.org/officeDocument/2006/relationships/image" Target="../media/image3.png"/><Relationship Id="rId9"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44.png"/><Relationship Id="rId4" Type="http://schemas.openxmlformats.org/officeDocument/2006/relationships/image" Target="../media/image3.png"/><Relationship Id="rId9" Type="http://schemas.openxmlformats.org/officeDocument/2006/relationships/image" Target="../media/image8.svg"/></Relationships>
</file>

<file path=ppt/slides/_rels/slide2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45.png"/><Relationship Id="rId4" Type="http://schemas.openxmlformats.org/officeDocument/2006/relationships/image" Target="../media/image3.png"/><Relationship Id="rId9" Type="http://schemas.openxmlformats.org/officeDocument/2006/relationships/image" Target="../media/image8.svg"/></Relationships>
</file>

<file path=ppt/slides/_rels/slide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46.png"/><Relationship Id="rId4" Type="http://schemas.openxmlformats.org/officeDocument/2006/relationships/image" Target="../media/image3.png"/><Relationship Id="rId9"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47.png"/><Relationship Id="rId4" Type="http://schemas.openxmlformats.org/officeDocument/2006/relationships/image" Target="../media/image3.png"/><Relationship Id="rId9"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github.com/Mutiur03/QSync_2207097_Desktop" TargetMode="External"/><Relationship Id="rId5" Type="http://schemas.openxmlformats.org/officeDocument/2006/relationships/image" Target="../media/image4.svg"/><Relationship Id="rId10" Type="http://schemas.openxmlformats.org/officeDocument/2006/relationships/hyperlink" Target="https://github.com/Mutiur03/QSync_2207097_Android" TargetMode="External"/><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1801473" y="1614973"/>
            <a:ext cx="14685054" cy="3186184"/>
          </a:xfrm>
          <a:prstGeom prst="rect">
            <a:avLst/>
          </a:prstGeom>
        </p:spPr>
        <p:txBody>
          <a:bodyPr lIns="0" tIns="0" rIns="0" bIns="0" rtlCol="0" anchor="t">
            <a:spAutoFit/>
          </a:bodyPr>
          <a:lstStyle/>
          <a:p>
            <a:pPr algn="ctr">
              <a:lnSpc>
                <a:spcPts val="11106"/>
              </a:lnSpc>
            </a:pPr>
            <a:r>
              <a:rPr lang="en-US" sz="12479" b="1">
                <a:solidFill>
                  <a:srgbClr val="034697"/>
                </a:solidFill>
                <a:latin typeface="Futura Bold"/>
                <a:ea typeface="Futura Bold"/>
                <a:cs typeface="Futura Bold"/>
                <a:sym typeface="Futura Bold"/>
              </a:rPr>
              <a:t>PROJECT PRESENTATION</a:t>
            </a:r>
          </a:p>
        </p:txBody>
      </p:sp>
      <p:sp>
        <p:nvSpPr>
          <p:cNvPr id="11" name="TextBox 11"/>
          <p:cNvSpPr txBox="1"/>
          <p:nvPr/>
        </p:nvSpPr>
        <p:spPr>
          <a:xfrm>
            <a:off x="5646158" y="5940803"/>
            <a:ext cx="6995684" cy="494030"/>
          </a:xfrm>
          <a:prstGeom prst="rect">
            <a:avLst/>
          </a:prstGeom>
        </p:spPr>
        <p:txBody>
          <a:bodyPr lIns="0" tIns="0" rIns="0" bIns="0" rtlCol="0" anchor="t">
            <a:spAutoFit/>
          </a:bodyPr>
          <a:lstStyle/>
          <a:p>
            <a:pPr algn="ctr">
              <a:lnSpc>
                <a:spcPts val="3699"/>
              </a:lnSpc>
            </a:pPr>
            <a:r>
              <a:rPr lang="en-US" sz="3699">
                <a:solidFill>
                  <a:srgbClr val="358DFE"/>
                </a:solidFill>
                <a:latin typeface="Varela Round"/>
                <a:ea typeface="Varela Round"/>
                <a:cs typeface="Varela Round"/>
                <a:sym typeface="Varela Round"/>
              </a:rPr>
              <a:t>Presented by</a:t>
            </a:r>
          </a:p>
        </p:txBody>
      </p:sp>
      <p:sp>
        <p:nvSpPr>
          <p:cNvPr id="12" name="TextBox 12"/>
          <p:cNvSpPr txBox="1"/>
          <p:nvPr/>
        </p:nvSpPr>
        <p:spPr>
          <a:xfrm>
            <a:off x="4825015" y="6739633"/>
            <a:ext cx="8637971" cy="1173317"/>
          </a:xfrm>
          <a:prstGeom prst="rect">
            <a:avLst/>
          </a:prstGeom>
        </p:spPr>
        <p:txBody>
          <a:bodyPr lIns="0" tIns="0" rIns="0" bIns="0" rtlCol="0" anchor="t">
            <a:spAutoFit/>
          </a:bodyPr>
          <a:lstStyle/>
          <a:p>
            <a:pPr algn="ctr">
              <a:lnSpc>
                <a:spcPts val="4568"/>
              </a:lnSpc>
            </a:pPr>
            <a:r>
              <a:rPr lang="en-US" sz="4568">
                <a:solidFill>
                  <a:srgbClr val="004AAD"/>
                </a:solidFill>
                <a:latin typeface="Varela Round"/>
                <a:ea typeface="Varela Round"/>
                <a:cs typeface="Varela Round"/>
                <a:sym typeface="Varela Round"/>
              </a:rPr>
              <a:t>Mutiur Rahman</a:t>
            </a:r>
          </a:p>
          <a:p>
            <a:pPr algn="ctr">
              <a:lnSpc>
                <a:spcPts val="4568"/>
              </a:lnSpc>
            </a:pPr>
            <a:r>
              <a:rPr lang="en-US" sz="4568">
                <a:solidFill>
                  <a:srgbClr val="004AAD"/>
                </a:solidFill>
                <a:latin typeface="Varela Round"/>
                <a:ea typeface="Varela Round"/>
                <a:cs typeface="Varela Round"/>
                <a:sym typeface="Varela Round"/>
              </a:rPr>
              <a:t>2207097</a:t>
            </a:r>
          </a:p>
        </p:txBody>
      </p:sp>
      <p:sp>
        <p:nvSpPr>
          <p:cNvPr id="13" name="TextBox 13"/>
          <p:cNvSpPr txBox="1"/>
          <p:nvPr/>
        </p:nvSpPr>
        <p:spPr>
          <a:xfrm>
            <a:off x="5646158" y="4668520"/>
            <a:ext cx="6995684" cy="566419"/>
          </a:xfrm>
          <a:prstGeom prst="rect">
            <a:avLst/>
          </a:prstGeom>
        </p:spPr>
        <p:txBody>
          <a:bodyPr lIns="0" tIns="0" rIns="0" bIns="0" rtlCol="0" anchor="t">
            <a:spAutoFit/>
          </a:bodyPr>
          <a:lstStyle/>
          <a:p>
            <a:pPr algn="ctr">
              <a:lnSpc>
                <a:spcPts val="4299"/>
              </a:lnSpc>
            </a:pPr>
            <a:r>
              <a:rPr lang="en-US" sz="4299">
                <a:solidFill>
                  <a:srgbClr val="004AAD"/>
                </a:solidFill>
                <a:latin typeface="Varela Round"/>
                <a:ea typeface="Varela Round"/>
                <a:cs typeface="Varela Round"/>
                <a:sym typeface="Varela Round"/>
              </a:rPr>
              <a:t>(CSE 2200)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1034140" y="1605448"/>
            <a:ext cx="16219720" cy="1515826"/>
          </a:xfrm>
          <a:prstGeom prst="rect">
            <a:avLst/>
          </a:prstGeom>
        </p:spPr>
        <p:txBody>
          <a:bodyPr lIns="0" tIns="0" rIns="0" bIns="0" rtlCol="0" anchor="t">
            <a:spAutoFit/>
          </a:bodyPr>
          <a:lstStyle/>
          <a:p>
            <a:pPr algn="ctr">
              <a:lnSpc>
                <a:spcPts val="9504"/>
              </a:lnSpc>
            </a:pPr>
            <a:r>
              <a:rPr lang="en-US" sz="10679" b="1">
                <a:solidFill>
                  <a:srgbClr val="034697"/>
                </a:solidFill>
                <a:latin typeface="Futura Bold"/>
                <a:ea typeface="Futura Bold"/>
                <a:cs typeface="Futura Bold"/>
                <a:sym typeface="Futura Bold"/>
              </a:rPr>
              <a:t>PROBLEM I HAVE SOLVED</a:t>
            </a:r>
          </a:p>
        </p:txBody>
      </p:sp>
      <p:sp>
        <p:nvSpPr>
          <p:cNvPr id="11" name="TextBox 11"/>
          <p:cNvSpPr txBox="1"/>
          <p:nvPr/>
        </p:nvSpPr>
        <p:spPr>
          <a:xfrm>
            <a:off x="1966290" y="4359318"/>
            <a:ext cx="14355419" cy="2534348"/>
          </a:xfrm>
          <a:prstGeom prst="rect">
            <a:avLst/>
          </a:prstGeom>
        </p:spPr>
        <p:txBody>
          <a:bodyPr lIns="0" tIns="0" rIns="0" bIns="0" rtlCol="0" anchor="t">
            <a:spAutoFit/>
          </a:bodyPr>
          <a:lstStyle/>
          <a:p>
            <a:pPr algn="ctr">
              <a:lnSpc>
                <a:spcPts val="4868"/>
              </a:lnSpc>
              <a:spcBef>
                <a:spcPct val="0"/>
              </a:spcBef>
            </a:pPr>
            <a:r>
              <a:rPr lang="en-US" sz="4868" dirty="0">
                <a:solidFill>
                  <a:srgbClr val="034697"/>
                </a:solidFill>
                <a:latin typeface="Varela Round"/>
                <a:ea typeface="Varela Round"/>
                <a:cs typeface="Varela Round"/>
                <a:sym typeface="Varela Round"/>
              </a:rPr>
              <a:t>Sometimes when we book any appointment to any doctor then don’t know  any update of when it’s our turn. For that we had to call to clinic and take update. Now it’s time to solve this problem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3908469" y="2100007"/>
            <a:ext cx="10471062" cy="1226862"/>
          </a:xfrm>
          <a:prstGeom prst="rect">
            <a:avLst/>
          </a:prstGeom>
        </p:spPr>
        <p:txBody>
          <a:bodyPr lIns="0" tIns="0" rIns="0" bIns="0" rtlCol="0" anchor="t">
            <a:spAutoFit/>
          </a:bodyPr>
          <a:lstStyle/>
          <a:p>
            <a:pPr algn="ctr">
              <a:lnSpc>
                <a:spcPts val="7709"/>
              </a:lnSpc>
            </a:pPr>
            <a:r>
              <a:rPr lang="en-US" sz="8662" b="1">
                <a:solidFill>
                  <a:srgbClr val="034697"/>
                </a:solidFill>
                <a:latin typeface="Futura Bold"/>
                <a:ea typeface="Futura Bold"/>
                <a:cs typeface="Futura Bold"/>
                <a:sym typeface="Futura Bold"/>
              </a:rPr>
              <a:t>PROJECT OVERVIEW</a:t>
            </a:r>
          </a:p>
        </p:txBody>
      </p:sp>
      <p:sp>
        <p:nvSpPr>
          <p:cNvPr id="11" name="TextBox 11"/>
          <p:cNvSpPr txBox="1"/>
          <p:nvPr/>
        </p:nvSpPr>
        <p:spPr>
          <a:xfrm>
            <a:off x="2735625" y="5016705"/>
            <a:ext cx="12816750" cy="2061655"/>
          </a:xfrm>
          <a:prstGeom prst="rect">
            <a:avLst/>
          </a:prstGeom>
        </p:spPr>
        <p:txBody>
          <a:bodyPr lIns="0" tIns="0" rIns="0" bIns="0" rtlCol="0" anchor="t">
            <a:spAutoFit/>
          </a:bodyPr>
          <a:lstStyle/>
          <a:p>
            <a:pPr algn="ctr">
              <a:lnSpc>
                <a:spcPts val="5268"/>
              </a:lnSpc>
              <a:spcBef>
                <a:spcPct val="0"/>
              </a:spcBef>
            </a:pPr>
            <a:r>
              <a:rPr lang="en-US" sz="5268" b="1" dirty="0" err="1">
                <a:solidFill>
                  <a:srgbClr val="034697"/>
                </a:solidFill>
                <a:latin typeface="Varela Round"/>
                <a:ea typeface="Varela Round"/>
                <a:cs typeface="Varela Round"/>
                <a:sym typeface="Varela Round"/>
              </a:rPr>
              <a:t>QSync</a:t>
            </a:r>
            <a:r>
              <a:rPr lang="en-US" sz="5268" dirty="0">
                <a:solidFill>
                  <a:srgbClr val="034697"/>
                </a:solidFill>
                <a:latin typeface="Varela Round"/>
                <a:ea typeface="Varela Round"/>
                <a:cs typeface="Varela Round"/>
                <a:sym typeface="Varela Round"/>
              </a:rPr>
              <a:t> is a cross-platform system where user can book doctor’s appointment and </a:t>
            </a:r>
            <a:r>
              <a:rPr lang="en-US" sz="5268" b="1" dirty="0">
                <a:solidFill>
                  <a:srgbClr val="034697"/>
                </a:solidFill>
                <a:latin typeface="Varela Round"/>
                <a:ea typeface="Varela Round"/>
                <a:cs typeface="Varela Round"/>
                <a:sym typeface="Varela Round"/>
              </a:rPr>
              <a:t>track</a:t>
            </a:r>
            <a:r>
              <a:rPr lang="en-US" sz="5268" dirty="0">
                <a:solidFill>
                  <a:srgbClr val="034697"/>
                </a:solidFill>
                <a:latin typeface="Varela Round"/>
                <a:ea typeface="Varela Round"/>
                <a:cs typeface="Varela Round"/>
                <a:sym typeface="Varela Round"/>
              </a:rPr>
              <a:t> updates in real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2931904" y="3198847"/>
            <a:ext cx="13095608" cy="5646935"/>
          </a:xfrm>
          <a:custGeom>
            <a:avLst/>
            <a:gdLst/>
            <a:ahLst/>
            <a:cxnLst/>
            <a:rect l="l" t="t" r="r" b="b"/>
            <a:pathLst>
              <a:path w="13095608" h="5646935">
                <a:moveTo>
                  <a:pt x="0" y="0"/>
                </a:moveTo>
                <a:lnTo>
                  <a:pt x="13095608" y="0"/>
                </a:lnTo>
                <a:lnTo>
                  <a:pt x="13095608" y="5646935"/>
                </a:lnTo>
                <a:lnTo>
                  <a:pt x="0" y="5646935"/>
                </a:lnTo>
                <a:lnTo>
                  <a:pt x="0" y="0"/>
                </a:lnTo>
                <a:close/>
              </a:path>
            </a:pathLst>
          </a:custGeom>
          <a:blipFill>
            <a:blip r:embed="rId10"/>
            <a:stretch>
              <a:fillRect t="-16533"/>
            </a:stretch>
          </a:blipFill>
        </p:spPr>
      </p:sp>
      <p:sp>
        <p:nvSpPr>
          <p:cNvPr id="11" name="TextBox 11"/>
          <p:cNvSpPr txBox="1"/>
          <p:nvPr/>
        </p:nvSpPr>
        <p:spPr>
          <a:xfrm>
            <a:off x="3643975" y="1576873"/>
            <a:ext cx="11000050"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SYSTEM ARCHITECTURE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3981225" y="1547142"/>
            <a:ext cx="10325549"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TECH STACK</a:t>
            </a:r>
          </a:p>
        </p:txBody>
      </p:sp>
      <p:grpSp>
        <p:nvGrpSpPr>
          <p:cNvPr id="11" name="Group 11"/>
          <p:cNvGrpSpPr/>
          <p:nvPr/>
        </p:nvGrpSpPr>
        <p:grpSpPr>
          <a:xfrm>
            <a:off x="1235240" y="3259185"/>
            <a:ext cx="7359630" cy="4529674"/>
            <a:chOff x="0" y="0"/>
            <a:chExt cx="9812839" cy="6039566"/>
          </a:xfrm>
        </p:grpSpPr>
        <p:sp>
          <p:nvSpPr>
            <p:cNvPr id="12" name="TextBox 12"/>
            <p:cNvSpPr txBox="1"/>
            <p:nvPr/>
          </p:nvSpPr>
          <p:spPr>
            <a:xfrm>
              <a:off x="788239" y="-180975"/>
              <a:ext cx="9024601" cy="1120123"/>
            </a:xfrm>
            <a:prstGeom prst="rect">
              <a:avLst/>
            </a:prstGeom>
          </p:spPr>
          <p:txBody>
            <a:bodyPr lIns="0" tIns="0" rIns="0" bIns="0" rtlCol="0" anchor="t">
              <a:spAutoFit/>
            </a:bodyPr>
            <a:lstStyle/>
            <a:p>
              <a:pPr algn="l">
                <a:lnSpc>
                  <a:spcPts val="6516"/>
                </a:lnSpc>
                <a:spcBef>
                  <a:spcPct val="0"/>
                </a:spcBef>
              </a:pPr>
              <a:r>
                <a:rPr lang="en-US" sz="4654" b="1">
                  <a:solidFill>
                    <a:srgbClr val="034697"/>
                  </a:solidFill>
                  <a:latin typeface="Futura Bold"/>
                  <a:ea typeface="Futura Bold"/>
                  <a:cs typeface="Futura Bold"/>
                  <a:sym typeface="Futura Bold"/>
                </a:rPr>
                <a:t>ANDROID APPLICATION</a:t>
              </a:r>
            </a:p>
          </p:txBody>
        </p:sp>
        <p:sp>
          <p:nvSpPr>
            <p:cNvPr id="13" name="TextBox 13"/>
            <p:cNvSpPr txBox="1"/>
            <p:nvPr/>
          </p:nvSpPr>
          <p:spPr>
            <a:xfrm>
              <a:off x="0" y="834373"/>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Java (Android SDK)</a:t>
              </a:r>
            </a:p>
          </p:txBody>
        </p:sp>
        <p:sp>
          <p:nvSpPr>
            <p:cNvPr id="14" name="TextBox 14"/>
            <p:cNvSpPr txBox="1"/>
            <p:nvPr/>
          </p:nvSpPr>
          <p:spPr>
            <a:xfrm>
              <a:off x="0" y="1888517"/>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XML (Design)</a:t>
              </a:r>
            </a:p>
          </p:txBody>
        </p:sp>
        <p:sp>
          <p:nvSpPr>
            <p:cNvPr id="15" name="TextBox 15"/>
            <p:cNvSpPr txBox="1"/>
            <p:nvPr/>
          </p:nvSpPr>
          <p:spPr>
            <a:xfrm>
              <a:off x="0" y="2932026"/>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Gradle (Build)</a:t>
              </a:r>
            </a:p>
          </p:txBody>
        </p:sp>
        <p:sp>
          <p:nvSpPr>
            <p:cNvPr id="16" name="TextBox 16"/>
            <p:cNvSpPr txBox="1"/>
            <p:nvPr/>
          </p:nvSpPr>
          <p:spPr>
            <a:xfrm>
              <a:off x="0" y="3988235"/>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Firebase (Database)</a:t>
              </a:r>
            </a:p>
          </p:txBody>
        </p:sp>
        <p:sp>
          <p:nvSpPr>
            <p:cNvPr id="17" name="TextBox 17"/>
            <p:cNvSpPr txBox="1"/>
            <p:nvPr/>
          </p:nvSpPr>
          <p:spPr>
            <a:xfrm>
              <a:off x="0" y="4891281"/>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FireAuth (Auth)</a:t>
              </a:r>
            </a:p>
          </p:txBody>
        </p:sp>
      </p:grpSp>
      <p:grpSp>
        <p:nvGrpSpPr>
          <p:cNvPr id="18" name="Group 18"/>
          <p:cNvGrpSpPr/>
          <p:nvPr/>
        </p:nvGrpSpPr>
        <p:grpSpPr>
          <a:xfrm>
            <a:off x="9492593" y="3259185"/>
            <a:ext cx="7359630" cy="3852390"/>
            <a:chOff x="0" y="0"/>
            <a:chExt cx="9812839" cy="5136520"/>
          </a:xfrm>
        </p:grpSpPr>
        <p:sp>
          <p:nvSpPr>
            <p:cNvPr id="19" name="TextBox 19"/>
            <p:cNvSpPr txBox="1"/>
            <p:nvPr/>
          </p:nvSpPr>
          <p:spPr>
            <a:xfrm>
              <a:off x="788239" y="-180975"/>
              <a:ext cx="8236362" cy="1120123"/>
            </a:xfrm>
            <a:prstGeom prst="rect">
              <a:avLst/>
            </a:prstGeom>
          </p:spPr>
          <p:txBody>
            <a:bodyPr lIns="0" tIns="0" rIns="0" bIns="0" rtlCol="0" anchor="t">
              <a:spAutoFit/>
            </a:bodyPr>
            <a:lstStyle/>
            <a:p>
              <a:pPr algn="l">
                <a:lnSpc>
                  <a:spcPts val="6516"/>
                </a:lnSpc>
                <a:spcBef>
                  <a:spcPct val="0"/>
                </a:spcBef>
              </a:pPr>
              <a:r>
                <a:rPr lang="en-US" sz="4654" b="1">
                  <a:solidFill>
                    <a:srgbClr val="034697"/>
                  </a:solidFill>
                  <a:latin typeface="Futura Bold"/>
                  <a:ea typeface="Futura Bold"/>
                  <a:cs typeface="Futura Bold"/>
                  <a:sym typeface="Futura Bold"/>
                </a:rPr>
                <a:t>DESKTOP APPLICATION</a:t>
              </a:r>
            </a:p>
          </p:txBody>
        </p:sp>
        <p:sp>
          <p:nvSpPr>
            <p:cNvPr id="20" name="TextBox 20"/>
            <p:cNvSpPr txBox="1"/>
            <p:nvPr/>
          </p:nvSpPr>
          <p:spPr>
            <a:xfrm>
              <a:off x="0" y="834373"/>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Java</a:t>
              </a:r>
            </a:p>
          </p:txBody>
        </p:sp>
        <p:sp>
          <p:nvSpPr>
            <p:cNvPr id="21" name="TextBox 21"/>
            <p:cNvSpPr txBox="1"/>
            <p:nvPr/>
          </p:nvSpPr>
          <p:spPr>
            <a:xfrm>
              <a:off x="0" y="1888517"/>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JavaFX (Design)</a:t>
              </a:r>
            </a:p>
          </p:txBody>
        </p:sp>
        <p:sp>
          <p:nvSpPr>
            <p:cNvPr id="22" name="TextBox 22"/>
            <p:cNvSpPr txBox="1"/>
            <p:nvPr/>
          </p:nvSpPr>
          <p:spPr>
            <a:xfrm>
              <a:off x="0" y="2932026"/>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Maven (Build)</a:t>
              </a:r>
            </a:p>
          </p:txBody>
        </p:sp>
        <p:sp>
          <p:nvSpPr>
            <p:cNvPr id="23" name="TextBox 23"/>
            <p:cNvSpPr txBox="1"/>
            <p:nvPr/>
          </p:nvSpPr>
          <p:spPr>
            <a:xfrm>
              <a:off x="0" y="3988235"/>
              <a:ext cx="9812839" cy="1148284"/>
            </a:xfrm>
            <a:prstGeom prst="rect">
              <a:avLst/>
            </a:prstGeom>
          </p:spPr>
          <p:txBody>
            <a:bodyPr lIns="0" tIns="0" rIns="0" bIns="0" rtlCol="0" anchor="t">
              <a:spAutoFit/>
            </a:bodyPr>
            <a:lstStyle/>
            <a:p>
              <a:pPr marL="1120027" lvl="1" indent="-560014" algn="l">
                <a:lnSpc>
                  <a:spcPts val="7262"/>
                </a:lnSpc>
                <a:buFont typeface="Arial"/>
                <a:buChar char="•"/>
              </a:pPr>
              <a:r>
                <a:rPr lang="en-US" sz="5187">
                  <a:solidFill>
                    <a:srgbClr val="034697"/>
                  </a:solidFill>
                  <a:latin typeface="Varela Round"/>
                  <a:ea typeface="Varela Round"/>
                  <a:cs typeface="Varela Round"/>
                  <a:sym typeface="Varela Round"/>
                </a:rPr>
                <a:t>SQLite (Database)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3981225" y="633898"/>
            <a:ext cx="10325549"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FEATURES</a:t>
            </a:r>
          </a:p>
        </p:txBody>
      </p:sp>
      <p:sp>
        <p:nvSpPr>
          <p:cNvPr id="11" name="TextBox 11"/>
          <p:cNvSpPr txBox="1"/>
          <p:nvPr/>
        </p:nvSpPr>
        <p:spPr>
          <a:xfrm>
            <a:off x="1604405" y="1738580"/>
            <a:ext cx="16683595" cy="7444795"/>
          </a:xfrm>
          <a:prstGeom prst="rect">
            <a:avLst/>
          </a:prstGeom>
        </p:spPr>
        <p:txBody>
          <a:bodyPr lIns="0" tIns="0" rIns="0" bIns="0" rtlCol="0" anchor="t">
            <a:spAutoFit/>
          </a:bodyPr>
          <a:lstStyle/>
          <a:p>
            <a:pPr marL="1120027" lvl="1" indent="-560014" algn="l">
              <a:lnSpc>
                <a:spcPts val="7262"/>
              </a:lnSpc>
              <a:buFont typeface="Arial"/>
              <a:buChar char="•"/>
            </a:pPr>
            <a:r>
              <a:rPr lang="en-US" sz="5400" b="1" dirty="0">
                <a:solidFill>
                  <a:srgbClr val="034697"/>
                </a:solidFill>
                <a:latin typeface="Varela Round"/>
                <a:ea typeface="Varela Round"/>
                <a:cs typeface="Varela Round"/>
                <a:sym typeface="Varela Round"/>
              </a:rPr>
              <a:t>RBAC</a:t>
            </a:r>
            <a:r>
              <a:rPr lang="en-US" sz="5187" dirty="0">
                <a:solidFill>
                  <a:srgbClr val="034697"/>
                </a:solidFill>
                <a:latin typeface="Varela Round"/>
                <a:ea typeface="Varela Round"/>
                <a:cs typeface="Varela Round"/>
                <a:sym typeface="Varela Round"/>
              </a:rPr>
              <a:t> (Role Bases Access Control).</a:t>
            </a:r>
          </a:p>
          <a:p>
            <a:pPr marL="1120027" lvl="1" indent="-560014" algn="l">
              <a:lnSpc>
                <a:spcPts val="7262"/>
              </a:lnSpc>
              <a:buFont typeface="Arial"/>
              <a:buChar char="•"/>
            </a:pPr>
            <a:r>
              <a:rPr lang="en-US" sz="5187" dirty="0">
                <a:solidFill>
                  <a:srgbClr val="034697"/>
                </a:solidFill>
                <a:latin typeface="Varela Round"/>
                <a:ea typeface="Varela Round"/>
                <a:cs typeface="Varela Round"/>
                <a:sym typeface="Varela Round"/>
              </a:rPr>
              <a:t>Saved states for </a:t>
            </a:r>
            <a:r>
              <a:rPr lang="en-US" sz="5400" b="1" dirty="0">
                <a:solidFill>
                  <a:srgbClr val="034697"/>
                </a:solidFill>
                <a:latin typeface="Varela Round"/>
                <a:ea typeface="Varela Round"/>
                <a:cs typeface="Varela Round"/>
                <a:sym typeface="Varela Round"/>
              </a:rPr>
              <a:t>Authorized User</a:t>
            </a:r>
            <a:r>
              <a:rPr lang="en-US" sz="5187" dirty="0">
                <a:solidFill>
                  <a:srgbClr val="034697"/>
                </a:solidFill>
                <a:latin typeface="Varela Round"/>
                <a:ea typeface="Varela Round"/>
                <a:cs typeface="Varela Round"/>
                <a:sym typeface="Varela Round"/>
              </a:rPr>
              <a:t>.</a:t>
            </a:r>
          </a:p>
          <a:p>
            <a:pPr marL="1120027" lvl="1" indent="-560014" algn="l">
              <a:lnSpc>
                <a:spcPts val="7262"/>
              </a:lnSpc>
              <a:buFont typeface="Arial"/>
              <a:buChar char="•"/>
            </a:pPr>
            <a:r>
              <a:rPr lang="en-US" sz="5187" dirty="0">
                <a:solidFill>
                  <a:srgbClr val="034697"/>
                </a:solidFill>
                <a:latin typeface="Varela Round"/>
                <a:ea typeface="Varela Round"/>
                <a:cs typeface="Varela Round"/>
                <a:sym typeface="Varela Round"/>
              </a:rPr>
              <a:t>Profile management and Customization.</a:t>
            </a:r>
          </a:p>
          <a:p>
            <a:pPr marL="1120027" lvl="1" indent="-560014" algn="l">
              <a:lnSpc>
                <a:spcPts val="7262"/>
              </a:lnSpc>
              <a:buFont typeface="Arial"/>
              <a:buChar char="•"/>
            </a:pPr>
            <a:r>
              <a:rPr lang="en-US" sz="5400" b="1" dirty="0">
                <a:solidFill>
                  <a:srgbClr val="034697"/>
                </a:solidFill>
                <a:latin typeface="Varela Round"/>
                <a:ea typeface="Varela Round"/>
                <a:cs typeface="Varela Round"/>
                <a:sym typeface="Varela Round"/>
              </a:rPr>
              <a:t>Relationship</a:t>
            </a:r>
            <a:r>
              <a:rPr lang="en-US" sz="5187" dirty="0">
                <a:solidFill>
                  <a:srgbClr val="034697"/>
                </a:solidFill>
                <a:latin typeface="Varela Round"/>
                <a:ea typeface="Varela Round"/>
                <a:cs typeface="Varela Round"/>
                <a:sym typeface="Varela Round"/>
              </a:rPr>
              <a:t> among tables using </a:t>
            </a:r>
            <a:r>
              <a:rPr lang="en-US" sz="5400" b="1" dirty="0">
                <a:solidFill>
                  <a:srgbClr val="034697"/>
                </a:solidFill>
                <a:latin typeface="Varela Round"/>
                <a:ea typeface="Varela Round"/>
                <a:cs typeface="Varela Round"/>
                <a:sym typeface="Varela Round"/>
              </a:rPr>
              <a:t>Join</a:t>
            </a:r>
            <a:r>
              <a:rPr lang="en-US" sz="5187" dirty="0">
                <a:solidFill>
                  <a:srgbClr val="034697"/>
                </a:solidFill>
                <a:latin typeface="Varela Round"/>
                <a:ea typeface="Varela Round"/>
                <a:cs typeface="Varela Round"/>
                <a:sym typeface="Varela Round"/>
              </a:rPr>
              <a:t> (One to many or many to many).</a:t>
            </a:r>
          </a:p>
          <a:p>
            <a:pPr marL="1120027" lvl="1" indent="-560014" algn="l">
              <a:lnSpc>
                <a:spcPts val="7262"/>
              </a:lnSpc>
              <a:buFont typeface="Arial"/>
              <a:buChar char="•"/>
            </a:pPr>
            <a:r>
              <a:rPr lang="en-US" sz="5187" dirty="0">
                <a:solidFill>
                  <a:srgbClr val="034697"/>
                </a:solidFill>
                <a:latin typeface="Varela Round"/>
                <a:ea typeface="Varela Round"/>
                <a:cs typeface="Varela Round"/>
                <a:sym typeface="Varela Round"/>
              </a:rPr>
              <a:t>Appointment booking with checking the </a:t>
            </a:r>
            <a:r>
              <a:rPr lang="en-US" sz="5400" b="1" dirty="0">
                <a:solidFill>
                  <a:srgbClr val="034697"/>
                </a:solidFill>
                <a:latin typeface="Varela Round"/>
                <a:ea typeface="Varela Round"/>
                <a:cs typeface="Varela Round"/>
                <a:sym typeface="Varela Round"/>
              </a:rPr>
              <a:t>actual</a:t>
            </a:r>
            <a:r>
              <a:rPr lang="en-US" sz="5187" dirty="0">
                <a:solidFill>
                  <a:srgbClr val="034697"/>
                </a:solidFill>
                <a:latin typeface="Varela Round"/>
                <a:ea typeface="Varela Round"/>
                <a:cs typeface="Varela Round"/>
                <a:sym typeface="Varela Round"/>
              </a:rPr>
              <a:t> </a:t>
            </a:r>
            <a:r>
              <a:rPr lang="en-US" sz="5400" b="1" dirty="0">
                <a:solidFill>
                  <a:srgbClr val="034697"/>
                </a:solidFill>
                <a:latin typeface="Varela Round"/>
                <a:ea typeface="Varela Round"/>
                <a:cs typeface="Varela Round"/>
                <a:sym typeface="Varela Round"/>
              </a:rPr>
              <a:t>waiting time</a:t>
            </a:r>
            <a:r>
              <a:rPr lang="en-US" sz="5187" dirty="0">
                <a:solidFill>
                  <a:srgbClr val="034697"/>
                </a:solidFill>
                <a:latin typeface="Varela Round"/>
                <a:ea typeface="Varela Round"/>
                <a:cs typeface="Varela Round"/>
                <a:sym typeface="Varela Round"/>
              </a:rPr>
              <a:t>.</a:t>
            </a:r>
          </a:p>
          <a:p>
            <a:pPr marL="1120027" lvl="1" indent="-560014" algn="l">
              <a:lnSpc>
                <a:spcPts val="7262"/>
              </a:lnSpc>
              <a:buFont typeface="Arial"/>
              <a:buChar char="•"/>
            </a:pPr>
            <a:r>
              <a:rPr lang="en-US" sz="5400" b="1" dirty="0">
                <a:solidFill>
                  <a:srgbClr val="034697"/>
                </a:solidFill>
                <a:latin typeface="Varela Round"/>
                <a:ea typeface="Varela Round"/>
                <a:cs typeface="Varela Round"/>
                <a:sym typeface="Varela Round"/>
              </a:rPr>
              <a:t>Real time </a:t>
            </a:r>
            <a:r>
              <a:rPr lang="en-US" sz="5187" dirty="0">
                <a:solidFill>
                  <a:srgbClr val="034697"/>
                </a:solidFill>
                <a:latin typeface="Varela Round"/>
                <a:ea typeface="Varela Round"/>
                <a:cs typeface="Varela Round"/>
                <a:sym typeface="Varela Round"/>
              </a:rPr>
              <a:t>waiting update.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3981225" y="633898"/>
            <a:ext cx="10325549"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FEATURES</a:t>
            </a:r>
          </a:p>
        </p:txBody>
      </p:sp>
      <p:sp>
        <p:nvSpPr>
          <p:cNvPr id="11" name="TextBox 11"/>
          <p:cNvSpPr txBox="1"/>
          <p:nvPr/>
        </p:nvSpPr>
        <p:spPr>
          <a:xfrm>
            <a:off x="1604405" y="1738580"/>
            <a:ext cx="16683595" cy="6516464"/>
          </a:xfrm>
          <a:prstGeom prst="rect">
            <a:avLst/>
          </a:prstGeom>
        </p:spPr>
        <p:txBody>
          <a:bodyPr lIns="0" tIns="0" rIns="0" bIns="0" rtlCol="0" anchor="t">
            <a:spAutoFit/>
          </a:bodyPr>
          <a:lstStyle/>
          <a:p>
            <a:pPr marL="1120027" lvl="1" indent="-560014" algn="l">
              <a:lnSpc>
                <a:spcPts val="7262"/>
              </a:lnSpc>
              <a:buFont typeface="Arial"/>
              <a:buChar char="•"/>
            </a:pPr>
            <a:r>
              <a:rPr lang="en-US" sz="5400" b="1" dirty="0">
                <a:solidFill>
                  <a:srgbClr val="034697"/>
                </a:solidFill>
                <a:latin typeface="Varela Round"/>
                <a:ea typeface="Varela Round"/>
                <a:cs typeface="Varela Round"/>
                <a:sym typeface="Varela Round"/>
              </a:rPr>
              <a:t>Notification</a:t>
            </a:r>
            <a:r>
              <a:rPr lang="en-US" sz="5187" dirty="0">
                <a:solidFill>
                  <a:srgbClr val="034697"/>
                </a:solidFill>
                <a:latin typeface="Varela Round"/>
                <a:ea typeface="Varela Round"/>
                <a:cs typeface="Varela Round"/>
                <a:sym typeface="Varela Round"/>
              </a:rPr>
              <a:t> when it’s your turn.</a:t>
            </a:r>
          </a:p>
          <a:p>
            <a:pPr marL="1120027" lvl="1" indent="-560014" algn="l">
              <a:lnSpc>
                <a:spcPts val="7262"/>
              </a:lnSpc>
              <a:buFont typeface="Arial"/>
              <a:buChar char="•"/>
            </a:pPr>
            <a:r>
              <a:rPr lang="en-US" sz="5187" dirty="0">
                <a:solidFill>
                  <a:srgbClr val="034697"/>
                </a:solidFill>
                <a:latin typeface="Varela Round"/>
                <a:ea typeface="Varela Round"/>
                <a:cs typeface="Varela Round"/>
                <a:sym typeface="Varela Round"/>
              </a:rPr>
              <a:t>Cancel booking with </a:t>
            </a:r>
            <a:r>
              <a:rPr lang="en-US" sz="5400" b="1" dirty="0">
                <a:solidFill>
                  <a:srgbClr val="034697"/>
                </a:solidFill>
                <a:latin typeface="Varela Round"/>
                <a:ea typeface="Varela Round"/>
                <a:cs typeface="Varela Round"/>
                <a:sym typeface="Varela Round"/>
              </a:rPr>
              <a:t>undo</a:t>
            </a:r>
            <a:r>
              <a:rPr lang="en-US" sz="5187" dirty="0">
                <a:solidFill>
                  <a:srgbClr val="034697"/>
                </a:solidFill>
                <a:latin typeface="Varela Round"/>
                <a:ea typeface="Varela Round"/>
                <a:cs typeface="Varela Round"/>
                <a:sym typeface="Varela Round"/>
              </a:rPr>
              <a:t>.</a:t>
            </a:r>
          </a:p>
          <a:p>
            <a:pPr marL="1120027" lvl="1" indent="-560014" algn="l">
              <a:lnSpc>
                <a:spcPts val="7262"/>
              </a:lnSpc>
              <a:buFont typeface="Arial"/>
              <a:buChar char="•"/>
            </a:pPr>
            <a:r>
              <a:rPr lang="en-US" sz="5187" dirty="0">
                <a:solidFill>
                  <a:srgbClr val="034697"/>
                </a:solidFill>
                <a:latin typeface="Varela Round"/>
                <a:ea typeface="Varela Round"/>
                <a:cs typeface="Varela Round"/>
                <a:sym typeface="Varela Round"/>
              </a:rPr>
              <a:t>Appointment </a:t>
            </a:r>
            <a:r>
              <a:rPr lang="en-US" sz="5400" b="1" dirty="0">
                <a:solidFill>
                  <a:srgbClr val="034697"/>
                </a:solidFill>
                <a:latin typeface="Varela Round"/>
                <a:ea typeface="Varela Round"/>
                <a:cs typeface="Varela Round"/>
                <a:sym typeface="Varela Round"/>
              </a:rPr>
              <a:t>history</a:t>
            </a:r>
            <a:r>
              <a:rPr lang="en-US" sz="5187" dirty="0">
                <a:solidFill>
                  <a:srgbClr val="034697"/>
                </a:solidFill>
                <a:latin typeface="Varela Round"/>
                <a:ea typeface="Varela Round"/>
                <a:cs typeface="Varela Round"/>
                <a:sym typeface="Varela Round"/>
              </a:rPr>
              <a:t>.</a:t>
            </a:r>
          </a:p>
          <a:p>
            <a:pPr marL="1120027" lvl="1" indent="-560014" algn="l">
              <a:lnSpc>
                <a:spcPts val="7262"/>
              </a:lnSpc>
              <a:buFont typeface="Arial"/>
              <a:buChar char="•"/>
            </a:pPr>
            <a:r>
              <a:rPr lang="en-US" sz="5400" b="1" dirty="0">
                <a:solidFill>
                  <a:srgbClr val="034697"/>
                </a:solidFill>
                <a:latin typeface="Varela Round"/>
                <a:ea typeface="Varela Round"/>
                <a:cs typeface="Varela Round"/>
                <a:sym typeface="Varela Round"/>
              </a:rPr>
              <a:t>CRUD</a:t>
            </a:r>
            <a:r>
              <a:rPr lang="en-US" sz="5187" dirty="0">
                <a:solidFill>
                  <a:srgbClr val="034697"/>
                </a:solidFill>
                <a:latin typeface="Varela Round"/>
                <a:ea typeface="Varela Round"/>
                <a:cs typeface="Varela Round"/>
                <a:sym typeface="Varela Round"/>
              </a:rPr>
              <a:t> on Departments and Doctors.</a:t>
            </a:r>
          </a:p>
          <a:p>
            <a:pPr marL="1120027" lvl="1" indent="-560014" algn="l">
              <a:lnSpc>
                <a:spcPts val="7262"/>
              </a:lnSpc>
              <a:buFont typeface="Arial"/>
              <a:buChar char="•"/>
            </a:pPr>
            <a:r>
              <a:rPr lang="en-US" sz="5187" dirty="0">
                <a:solidFill>
                  <a:srgbClr val="034697"/>
                </a:solidFill>
                <a:latin typeface="Varela Round"/>
                <a:ea typeface="Varela Round"/>
                <a:cs typeface="Varela Round"/>
                <a:sym typeface="Varela Round"/>
              </a:rPr>
              <a:t>Password </a:t>
            </a:r>
            <a:r>
              <a:rPr lang="en-US" sz="5400" b="1" dirty="0">
                <a:solidFill>
                  <a:srgbClr val="034697"/>
                </a:solidFill>
                <a:latin typeface="Varela Round"/>
                <a:ea typeface="Varela Round"/>
                <a:cs typeface="Varela Round"/>
                <a:sym typeface="Varela Round"/>
              </a:rPr>
              <a:t>Update</a:t>
            </a:r>
            <a:r>
              <a:rPr lang="en-US" sz="5187" dirty="0">
                <a:solidFill>
                  <a:srgbClr val="034697"/>
                </a:solidFill>
                <a:latin typeface="Varela Round"/>
                <a:ea typeface="Varela Round"/>
                <a:cs typeface="Varela Round"/>
                <a:sym typeface="Varela Round"/>
              </a:rPr>
              <a:t>.</a:t>
            </a:r>
          </a:p>
          <a:p>
            <a:pPr marL="1120027" lvl="1" indent="-560014" algn="l">
              <a:lnSpc>
                <a:spcPts val="7262"/>
              </a:lnSpc>
              <a:buFont typeface="Arial"/>
              <a:buChar char="•"/>
            </a:pPr>
            <a:r>
              <a:rPr lang="en-US" sz="5187" dirty="0">
                <a:solidFill>
                  <a:srgbClr val="034697"/>
                </a:solidFill>
                <a:latin typeface="Varela Round"/>
                <a:ea typeface="Varela Round"/>
                <a:cs typeface="Varela Round"/>
                <a:sym typeface="Varela Round"/>
              </a:rPr>
              <a:t>Status update from admin panel and </a:t>
            </a:r>
            <a:r>
              <a:rPr lang="en-US" sz="5400" b="1" dirty="0">
                <a:solidFill>
                  <a:srgbClr val="034697"/>
                </a:solidFill>
                <a:latin typeface="Varela Round"/>
                <a:ea typeface="Varela Round"/>
                <a:cs typeface="Varela Round"/>
                <a:sym typeface="Varela Round"/>
              </a:rPr>
              <a:t>instant notification</a:t>
            </a:r>
            <a:r>
              <a:rPr lang="en-US" sz="5187" dirty="0">
                <a:solidFill>
                  <a:srgbClr val="034697"/>
                </a:solidFill>
                <a:latin typeface="Varela Round"/>
                <a:ea typeface="Varela Round"/>
                <a:cs typeface="Varela Round"/>
                <a:sym typeface="Varela Round"/>
              </a:rPr>
              <a:t> to user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12821" y="1776655"/>
            <a:ext cx="15646479" cy="7334287"/>
          </a:xfrm>
          <a:custGeom>
            <a:avLst/>
            <a:gdLst/>
            <a:ahLst/>
            <a:cxnLst/>
            <a:rect l="l" t="t" r="r" b="b"/>
            <a:pathLst>
              <a:path w="15646479" h="7334287">
                <a:moveTo>
                  <a:pt x="0" y="0"/>
                </a:moveTo>
                <a:lnTo>
                  <a:pt x="15646479" y="0"/>
                </a:lnTo>
                <a:lnTo>
                  <a:pt x="15646479" y="7334287"/>
                </a:lnTo>
                <a:lnTo>
                  <a:pt x="0" y="7334287"/>
                </a:lnTo>
                <a:lnTo>
                  <a:pt x="0" y="0"/>
                </a:lnTo>
                <a:close/>
              </a:path>
            </a:pathLst>
          </a:custGeom>
          <a:blipFill>
            <a:blip r:embed="rId10"/>
            <a:stretch>
              <a:fillRect/>
            </a:stretch>
          </a:blipFill>
        </p:spPr>
      </p:sp>
      <p:sp>
        <p:nvSpPr>
          <p:cNvPr id="11" name="TextBox 11"/>
          <p:cNvSpPr txBox="1"/>
          <p:nvPr/>
        </p:nvSpPr>
        <p:spPr>
          <a:xfrm>
            <a:off x="3981225" y="633898"/>
            <a:ext cx="10325549"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DATABASE SCHEMA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1186770" y="2867201"/>
            <a:ext cx="6183302" cy="5974877"/>
          </a:xfrm>
          <a:custGeom>
            <a:avLst/>
            <a:gdLst/>
            <a:ahLst/>
            <a:cxnLst/>
            <a:rect l="l" t="t" r="r" b="b"/>
            <a:pathLst>
              <a:path w="6183302" h="5974877">
                <a:moveTo>
                  <a:pt x="0" y="0"/>
                </a:moveTo>
                <a:lnTo>
                  <a:pt x="6183302" y="0"/>
                </a:lnTo>
                <a:lnTo>
                  <a:pt x="6183302" y="5974877"/>
                </a:lnTo>
                <a:lnTo>
                  <a:pt x="0" y="5974877"/>
                </a:lnTo>
                <a:lnTo>
                  <a:pt x="0" y="0"/>
                </a:lnTo>
                <a:close/>
              </a:path>
            </a:pathLst>
          </a:custGeom>
          <a:blipFill>
            <a:blip r:embed="rId10"/>
            <a:stretch>
              <a:fillRect/>
            </a:stretch>
          </a:blipFill>
        </p:spPr>
      </p:sp>
      <p:sp>
        <p:nvSpPr>
          <p:cNvPr id="10" name="Freeform 10"/>
          <p:cNvSpPr/>
          <p:nvPr/>
        </p:nvSpPr>
        <p:spPr>
          <a:xfrm>
            <a:off x="7828415" y="3162476"/>
            <a:ext cx="9430885" cy="5297465"/>
          </a:xfrm>
          <a:custGeom>
            <a:avLst/>
            <a:gdLst/>
            <a:ahLst/>
            <a:cxnLst/>
            <a:rect l="l" t="t" r="r" b="b"/>
            <a:pathLst>
              <a:path w="9430885" h="5297465">
                <a:moveTo>
                  <a:pt x="0" y="0"/>
                </a:moveTo>
                <a:lnTo>
                  <a:pt x="9430885" y="0"/>
                </a:lnTo>
                <a:lnTo>
                  <a:pt x="9430885" y="5297465"/>
                </a:lnTo>
                <a:lnTo>
                  <a:pt x="0" y="5297465"/>
                </a:lnTo>
                <a:lnTo>
                  <a:pt x="0" y="0"/>
                </a:lnTo>
                <a:close/>
              </a:path>
            </a:pathLst>
          </a:custGeom>
          <a:blipFill>
            <a:blip r:embed="rId11"/>
            <a:stretch>
              <a:fillRect r="-19832"/>
            </a:stretch>
          </a:blipFill>
        </p:spPr>
      </p:sp>
      <p:sp>
        <p:nvSpPr>
          <p:cNvPr id="11" name="AutoShape 11"/>
          <p:cNvSpPr/>
          <p:nvPr/>
        </p:nvSpPr>
        <p:spPr>
          <a:xfrm>
            <a:off x="7555710" y="5725151"/>
            <a:ext cx="1312743" cy="67008"/>
          </a:xfrm>
          <a:prstGeom prst="line">
            <a:avLst/>
          </a:prstGeom>
          <a:ln w="38100" cap="flat">
            <a:solidFill>
              <a:srgbClr val="000000"/>
            </a:solidFill>
            <a:prstDash val="solid"/>
            <a:headEnd type="none" w="sm" len="sm"/>
            <a:tailEnd type="arrow" w="med" len="sm"/>
          </a:ln>
        </p:spPr>
      </p:sp>
      <p:sp>
        <p:nvSpPr>
          <p:cNvPr id="12" name="TextBox 12"/>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ANDROID APPLICATION </a:t>
            </a:r>
          </a:p>
        </p:txBody>
      </p:sp>
      <p:sp>
        <p:nvSpPr>
          <p:cNvPr id="13" name="TextBox 13"/>
          <p:cNvSpPr txBox="1"/>
          <p:nvPr/>
        </p:nvSpPr>
        <p:spPr>
          <a:xfrm>
            <a:off x="6475690" y="1741669"/>
            <a:ext cx="5336620" cy="982657"/>
          </a:xfrm>
          <a:prstGeom prst="rect">
            <a:avLst/>
          </a:prstGeom>
        </p:spPr>
        <p:txBody>
          <a:bodyPr lIns="0" tIns="0" rIns="0" bIns="0" rtlCol="0" anchor="t">
            <a:spAutoFit/>
          </a:bodyPr>
          <a:lstStyle/>
          <a:p>
            <a:pPr algn="ctr">
              <a:lnSpc>
                <a:spcPts val="7262"/>
              </a:lnSpc>
              <a:spcBef>
                <a:spcPct val="0"/>
              </a:spcBef>
            </a:pPr>
            <a:r>
              <a:rPr lang="en-US" sz="5187" b="1">
                <a:solidFill>
                  <a:srgbClr val="034697"/>
                </a:solidFill>
                <a:latin typeface="Futura Bold"/>
                <a:ea typeface="Futura Bold"/>
                <a:cs typeface="Futura Bold"/>
                <a:sym typeface="Futura Bold"/>
              </a:rPr>
              <a:t>FEATURES AND UI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1826419" y="1965021"/>
            <a:ext cx="2932147" cy="6356958"/>
          </a:xfrm>
          <a:custGeom>
            <a:avLst/>
            <a:gdLst/>
            <a:ahLst/>
            <a:cxnLst/>
            <a:rect l="l" t="t" r="r" b="b"/>
            <a:pathLst>
              <a:path w="2932147" h="6356958">
                <a:moveTo>
                  <a:pt x="0" y="0"/>
                </a:moveTo>
                <a:lnTo>
                  <a:pt x="2932147" y="0"/>
                </a:lnTo>
                <a:lnTo>
                  <a:pt x="2932147" y="6356958"/>
                </a:lnTo>
                <a:lnTo>
                  <a:pt x="0" y="6356958"/>
                </a:lnTo>
                <a:lnTo>
                  <a:pt x="0" y="0"/>
                </a:lnTo>
                <a:close/>
              </a:path>
            </a:pathLst>
          </a:custGeom>
          <a:blipFill>
            <a:blip r:embed="rId10"/>
            <a:stretch>
              <a:fillRect/>
            </a:stretch>
          </a:blipFill>
        </p:spPr>
      </p:sp>
      <p:sp>
        <p:nvSpPr>
          <p:cNvPr id="10" name="Freeform 10"/>
          <p:cNvSpPr/>
          <p:nvPr/>
        </p:nvSpPr>
        <p:spPr>
          <a:xfrm>
            <a:off x="7677927" y="1965021"/>
            <a:ext cx="2932147" cy="6356958"/>
          </a:xfrm>
          <a:custGeom>
            <a:avLst/>
            <a:gdLst/>
            <a:ahLst/>
            <a:cxnLst/>
            <a:rect l="l" t="t" r="r" b="b"/>
            <a:pathLst>
              <a:path w="2932147" h="6356958">
                <a:moveTo>
                  <a:pt x="0" y="0"/>
                </a:moveTo>
                <a:lnTo>
                  <a:pt x="2932146" y="0"/>
                </a:lnTo>
                <a:lnTo>
                  <a:pt x="2932146" y="6356958"/>
                </a:lnTo>
                <a:lnTo>
                  <a:pt x="0" y="6356958"/>
                </a:lnTo>
                <a:lnTo>
                  <a:pt x="0" y="0"/>
                </a:lnTo>
                <a:close/>
              </a:path>
            </a:pathLst>
          </a:custGeom>
          <a:blipFill>
            <a:blip r:embed="rId11"/>
            <a:stretch>
              <a:fillRect/>
            </a:stretch>
          </a:blipFill>
        </p:spPr>
      </p:sp>
      <p:sp>
        <p:nvSpPr>
          <p:cNvPr id="11" name="Freeform 11"/>
          <p:cNvSpPr/>
          <p:nvPr/>
        </p:nvSpPr>
        <p:spPr>
          <a:xfrm>
            <a:off x="13524723" y="1965021"/>
            <a:ext cx="2933981" cy="6356958"/>
          </a:xfrm>
          <a:custGeom>
            <a:avLst/>
            <a:gdLst/>
            <a:ahLst/>
            <a:cxnLst/>
            <a:rect l="l" t="t" r="r" b="b"/>
            <a:pathLst>
              <a:path w="2933981" h="6356958">
                <a:moveTo>
                  <a:pt x="0" y="0"/>
                </a:moveTo>
                <a:lnTo>
                  <a:pt x="2933981" y="0"/>
                </a:lnTo>
                <a:lnTo>
                  <a:pt x="2933981" y="6356958"/>
                </a:lnTo>
                <a:lnTo>
                  <a:pt x="0" y="6356958"/>
                </a:lnTo>
                <a:lnTo>
                  <a:pt x="0" y="0"/>
                </a:lnTo>
                <a:close/>
              </a:path>
            </a:pathLst>
          </a:custGeom>
          <a:blipFill>
            <a:blip r:embed="rId12"/>
            <a:stretch>
              <a:fillRect/>
            </a:stretch>
          </a:blipFill>
        </p:spPr>
      </p:sp>
      <p:sp>
        <p:nvSpPr>
          <p:cNvPr id="12" name="TextBox 12"/>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ANDROID APPLICATION </a:t>
            </a:r>
          </a:p>
        </p:txBody>
      </p:sp>
      <p:sp>
        <p:nvSpPr>
          <p:cNvPr id="13" name="AutoShape 13"/>
          <p:cNvSpPr/>
          <p:nvPr/>
        </p:nvSpPr>
        <p:spPr>
          <a:xfrm flipV="1">
            <a:off x="10975977" y="5124450"/>
            <a:ext cx="1864418" cy="19050"/>
          </a:xfrm>
          <a:prstGeom prst="line">
            <a:avLst/>
          </a:prstGeom>
          <a:ln w="38100" cap="flat">
            <a:solidFill>
              <a:srgbClr val="000000"/>
            </a:solidFill>
            <a:prstDash val="solid"/>
            <a:headEnd type="none" w="sm" len="sm"/>
            <a:tailEnd type="arrow" w="med" len="sm"/>
          </a:ln>
        </p:spPr>
      </p:sp>
      <p:sp>
        <p:nvSpPr>
          <p:cNvPr id="14" name="AutoShape 14"/>
          <p:cNvSpPr/>
          <p:nvPr/>
        </p:nvSpPr>
        <p:spPr>
          <a:xfrm flipV="1">
            <a:off x="5286037" y="5162549"/>
            <a:ext cx="1864418" cy="19050"/>
          </a:xfrm>
          <a:prstGeom prst="line">
            <a:avLst/>
          </a:prstGeom>
          <a:ln w="38100" cap="flat">
            <a:solidFill>
              <a:srgbClr val="000000"/>
            </a:solidFill>
            <a:prstDash val="solid"/>
            <a:headEnd type="none" w="sm" len="sm"/>
            <a:tailEnd type="arrow" w="med" len="sm"/>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AutoShape 9"/>
          <p:cNvSpPr/>
          <p:nvPr/>
        </p:nvSpPr>
        <p:spPr>
          <a:xfrm flipV="1">
            <a:off x="10975977" y="5124450"/>
            <a:ext cx="1864418" cy="19050"/>
          </a:xfrm>
          <a:prstGeom prst="line">
            <a:avLst/>
          </a:prstGeom>
          <a:ln w="38100" cap="flat">
            <a:solidFill>
              <a:srgbClr val="000000"/>
            </a:solidFill>
            <a:prstDash val="solid"/>
            <a:headEnd type="none" w="sm" len="sm"/>
            <a:tailEnd type="arrow" w="med" len="sm"/>
          </a:ln>
        </p:spPr>
      </p:sp>
      <p:sp>
        <p:nvSpPr>
          <p:cNvPr id="10" name="AutoShape 10"/>
          <p:cNvSpPr/>
          <p:nvPr/>
        </p:nvSpPr>
        <p:spPr>
          <a:xfrm flipV="1">
            <a:off x="5286037" y="5162549"/>
            <a:ext cx="1864418" cy="19050"/>
          </a:xfrm>
          <a:prstGeom prst="line">
            <a:avLst/>
          </a:prstGeom>
          <a:ln w="38100" cap="flat">
            <a:solidFill>
              <a:srgbClr val="000000"/>
            </a:solidFill>
            <a:prstDash val="solid"/>
            <a:headEnd type="none" w="sm" len="sm"/>
            <a:tailEnd type="arrow" w="med" len="sm"/>
          </a:ln>
        </p:spPr>
      </p:sp>
      <p:sp>
        <p:nvSpPr>
          <p:cNvPr id="11" name="Freeform 11"/>
          <p:cNvSpPr/>
          <p:nvPr/>
        </p:nvSpPr>
        <p:spPr>
          <a:xfrm>
            <a:off x="1826419" y="196502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0"/>
            <a:stretch>
              <a:fillRect/>
            </a:stretch>
          </a:blipFill>
        </p:spPr>
      </p:sp>
      <p:sp>
        <p:nvSpPr>
          <p:cNvPr id="12" name="Freeform 12"/>
          <p:cNvSpPr/>
          <p:nvPr/>
        </p:nvSpPr>
        <p:spPr>
          <a:xfrm>
            <a:off x="7674525" y="2003120"/>
            <a:ext cx="2932147" cy="6356958"/>
          </a:xfrm>
          <a:custGeom>
            <a:avLst/>
            <a:gdLst/>
            <a:ahLst/>
            <a:cxnLst/>
            <a:rect l="l" t="t" r="r" b="b"/>
            <a:pathLst>
              <a:path w="2932147" h="6356958">
                <a:moveTo>
                  <a:pt x="0" y="0"/>
                </a:moveTo>
                <a:lnTo>
                  <a:pt x="2932147" y="0"/>
                </a:lnTo>
                <a:lnTo>
                  <a:pt x="2932147" y="6356958"/>
                </a:lnTo>
                <a:lnTo>
                  <a:pt x="0" y="6356958"/>
                </a:lnTo>
                <a:lnTo>
                  <a:pt x="0" y="0"/>
                </a:lnTo>
                <a:close/>
              </a:path>
            </a:pathLst>
          </a:custGeom>
          <a:blipFill>
            <a:blip r:embed="rId11"/>
            <a:stretch>
              <a:fillRect/>
            </a:stretch>
          </a:blipFill>
        </p:spPr>
      </p:sp>
      <p:sp>
        <p:nvSpPr>
          <p:cNvPr id="13" name="Freeform 13"/>
          <p:cNvSpPr/>
          <p:nvPr/>
        </p:nvSpPr>
        <p:spPr>
          <a:xfrm>
            <a:off x="13640690" y="196502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2"/>
            <a:stretch>
              <a:fillRect t="-167" b="-167"/>
            </a:stretch>
          </a:blipFill>
        </p:spPr>
      </p:sp>
      <p:sp>
        <p:nvSpPr>
          <p:cNvPr id="14" name="TextBox 14"/>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ANDROID APPLICATION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AutoShape 9"/>
          <p:cNvSpPr/>
          <p:nvPr/>
        </p:nvSpPr>
        <p:spPr>
          <a:xfrm flipV="1">
            <a:off x="10975977" y="5124450"/>
            <a:ext cx="1864418" cy="19050"/>
          </a:xfrm>
          <a:prstGeom prst="line">
            <a:avLst/>
          </a:prstGeom>
          <a:ln w="38100" cap="flat">
            <a:solidFill>
              <a:srgbClr val="000000"/>
            </a:solidFill>
            <a:prstDash val="solid"/>
            <a:headEnd type="none" w="sm" len="sm"/>
            <a:tailEnd type="arrow" w="med" len="sm"/>
          </a:ln>
        </p:spPr>
      </p:sp>
      <p:sp>
        <p:nvSpPr>
          <p:cNvPr id="10" name="AutoShape 10"/>
          <p:cNvSpPr/>
          <p:nvPr/>
        </p:nvSpPr>
        <p:spPr>
          <a:xfrm flipV="1">
            <a:off x="5286037" y="5162549"/>
            <a:ext cx="1864418" cy="19050"/>
          </a:xfrm>
          <a:prstGeom prst="line">
            <a:avLst/>
          </a:prstGeom>
          <a:ln w="38100" cap="flat">
            <a:solidFill>
              <a:srgbClr val="000000"/>
            </a:solidFill>
            <a:prstDash val="solid"/>
            <a:headEnd type="none" w="sm" len="sm"/>
            <a:tailEnd type="arrow" w="med" len="sm"/>
          </a:ln>
        </p:spPr>
      </p:sp>
      <p:sp>
        <p:nvSpPr>
          <p:cNvPr id="11" name="Freeform 11"/>
          <p:cNvSpPr/>
          <p:nvPr/>
        </p:nvSpPr>
        <p:spPr>
          <a:xfrm>
            <a:off x="1826419" y="196502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0"/>
            <a:stretch>
              <a:fillRect t="-167" b="-167"/>
            </a:stretch>
          </a:blipFill>
        </p:spPr>
      </p:sp>
      <p:sp>
        <p:nvSpPr>
          <p:cNvPr id="12" name="Freeform 12"/>
          <p:cNvSpPr/>
          <p:nvPr/>
        </p:nvSpPr>
        <p:spPr>
          <a:xfrm>
            <a:off x="7674525" y="2003120"/>
            <a:ext cx="2932147" cy="6356958"/>
          </a:xfrm>
          <a:custGeom>
            <a:avLst/>
            <a:gdLst/>
            <a:ahLst/>
            <a:cxnLst/>
            <a:rect l="l" t="t" r="r" b="b"/>
            <a:pathLst>
              <a:path w="2932147" h="6356958">
                <a:moveTo>
                  <a:pt x="0" y="0"/>
                </a:moveTo>
                <a:lnTo>
                  <a:pt x="2932147" y="0"/>
                </a:lnTo>
                <a:lnTo>
                  <a:pt x="2932147" y="6356958"/>
                </a:lnTo>
                <a:lnTo>
                  <a:pt x="0" y="6356958"/>
                </a:lnTo>
                <a:lnTo>
                  <a:pt x="0" y="0"/>
                </a:lnTo>
                <a:close/>
              </a:path>
            </a:pathLst>
          </a:custGeom>
          <a:blipFill>
            <a:blip r:embed="rId11"/>
            <a:stretch>
              <a:fillRect t="-135" b="-135"/>
            </a:stretch>
          </a:blipFill>
        </p:spPr>
      </p:sp>
      <p:sp>
        <p:nvSpPr>
          <p:cNvPr id="13" name="Freeform 13"/>
          <p:cNvSpPr/>
          <p:nvPr/>
        </p:nvSpPr>
        <p:spPr>
          <a:xfrm>
            <a:off x="13640690" y="196502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2"/>
            <a:stretch>
              <a:fillRect t="-167" b="-167"/>
            </a:stretch>
          </a:blipFill>
        </p:spPr>
      </p:sp>
      <p:sp>
        <p:nvSpPr>
          <p:cNvPr id="14" name="TextBox 14"/>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ANDROID APPLICATION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AutoShape 9"/>
          <p:cNvSpPr/>
          <p:nvPr/>
        </p:nvSpPr>
        <p:spPr>
          <a:xfrm flipV="1">
            <a:off x="10975977" y="5124450"/>
            <a:ext cx="1864418" cy="19050"/>
          </a:xfrm>
          <a:prstGeom prst="line">
            <a:avLst/>
          </a:prstGeom>
          <a:ln w="38100" cap="flat">
            <a:solidFill>
              <a:srgbClr val="000000"/>
            </a:solidFill>
            <a:prstDash val="solid"/>
            <a:headEnd type="none" w="sm" len="sm"/>
            <a:tailEnd type="arrow" w="med" len="sm"/>
          </a:ln>
        </p:spPr>
      </p:sp>
      <p:sp>
        <p:nvSpPr>
          <p:cNvPr id="10" name="AutoShape 10"/>
          <p:cNvSpPr/>
          <p:nvPr/>
        </p:nvSpPr>
        <p:spPr>
          <a:xfrm flipV="1">
            <a:off x="5286037" y="5162549"/>
            <a:ext cx="1864418" cy="19050"/>
          </a:xfrm>
          <a:prstGeom prst="line">
            <a:avLst/>
          </a:prstGeom>
          <a:ln w="38100" cap="flat">
            <a:solidFill>
              <a:srgbClr val="000000"/>
            </a:solidFill>
            <a:prstDash val="solid"/>
            <a:headEnd type="none" w="sm" len="sm"/>
            <a:tailEnd type="arrow" w="med" len="sm"/>
          </a:ln>
        </p:spPr>
      </p:sp>
      <p:sp>
        <p:nvSpPr>
          <p:cNvPr id="11" name="Freeform 11"/>
          <p:cNvSpPr/>
          <p:nvPr/>
        </p:nvSpPr>
        <p:spPr>
          <a:xfrm>
            <a:off x="13640690" y="196502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0"/>
            <a:stretch>
              <a:fillRect t="-167" b="-167"/>
            </a:stretch>
          </a:blipFill>
        </p:spPr>
      </p:sp>
      <p:sp>
        <p:nvSpPr>
          <p:cNvPr id="12" name="Freeform 12"/>
          <p:cNvSpPr/>
          <p:nvPr/>
        </p:nvSpPr>
        <p:spPr>
          <a:xfrm>
            <a:off x="1666062" y="194597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1"/>
            <a:stretch>
              <a:fillRect/>
            </a:stretch>
          </a:blipFill>
        </p:spPr>
      </p:sp>
      <p:sp>
        <p:nvSpPr>
          <p:cNvPr id="13" name="Freeform 13"/>
          <p:cNvSpPr/>
          <p:nvPr/>
        </p:nvSpPr>
        <p:spPr>
          <a:xfrm>
            <a:off x="7677927" y="2003120"/>
            <a:ext cx="2932147" cy="6356958"/>
          </a:xfrm>
          <a:custGeom>
            <a:avLst/>
            <a:gdLst/>
            <a:ahLst/>
            <a:cxnLst/>
            <a:rect l="l" t="t" r="r" b="b"/>
            <a:pathLst>
              <a:path w="2932147" h="6356958">
                <a:moveTo>
                  <a:pt x="0" y="0"/>
                </a:moveTo>
                <a:lnTo>
                  <a:pt x="2932146" y="0"/>
                </a:lnTo>
                <a:lnTo>
                  <a:pt x="2932146" y="6356958"/>
                </a:lnTo>
                <a:lnTo>
                  <a:pt x="0" y="6356958"/>
                </a:lnTo>
                <a:lnTo>
                  <a:pt x="0" y="0"/>
                </a:lnTo>
                <a:close/>
              </a:path>
            </a:pathLst>
          </a:custGeom>
          <a:blipFill>
            <a:blip r:embed="rId12"/>
            <a:stretch>
              <a:fillRect/>
            </a:stretch>
          </a:blipFill>
        </p:spPr>
      </p:sp>
      <p:sp>
        <p:nvSpPr>
          <p:cNvPr id="14" name="TextBox 14"/>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ANDROID APPLICATION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AutoShape 9"/>
          <p:cNvSpPr/>
          <p:nvPr/>
        </p:nvSpPr>
        <p:spPr>
          <a:xfrm flipV="1">
            <a:off x="10975977" y="5124450"/>
            <a:ext cx="1864418" cy="19050"/>
          </a:xfrm>
          <a:prstGeom prst="line">
            <a:avLst/>
          </a:prstGeom>
          <a:ln w="38100" cap="flat">
            <a:solidFill>
              <a:srgbClr val="000000"/>
            </a:solidFill>
            <a:prstDash val="solid"/>
            <a:headEnd type="none" w="sm" len="sm"/>
            <a:tailEnd type="arrow" w="med" len="sm"/>
          </a:ln>
        </p:spPr>
      </p:sp>
      <p:sp>
        <p:nvSpPr>
          <p:cNvPr id="10" name="AutoShape 10"/>
          <p:cNvSpPr/>
          <p:nvPr/>
        </p:nvSpPr>
        <p:spPr>
          <a:xfrm flipV="1">
            <a:off x="5286037" y="5162549"/>
            <a:ext cx="1864418" cy="19050"/>
          </a:xfrm>
          <a:prstGeom prst="line">
            <a:avLst/>
          </a:prstGeom>
          <a:ln w="38100" cap="flat">
            <a:solidFill>
              <a:srgbClr val="000000"/>
            </a:solidFill>
            <a:prstDash val="solid"/>
            <a:headEnd type="none" w="sm" len="sm"/>
            <a:tailEnd type="arrow" w="med" len="sm"/>
          </a:ln>
        </p:spPr>
      </p:sp>
      <p:sp>
        <p:nvSpPr>
          <p:cNvPr id="11" name="Freeform 11"/>
          <p:cNvSpPr/>
          <p:nvPr/>
        </p:nvSpPr>
        <p:spPr>
          <a:xfrm>
            <a:off x="13640690" y="196502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0"/>
            <a:stretch>
              <a:fillRect t="-167" b="-167"/>
            </a:stretch>
          </a:blipFill>
        </p:spPr>
      </p:sp>
      <p:sp>
        <p:nvSpPr>
          <p:cNvPr id="12" name="Freeform 12"/>
          <p:cNvSpPr/>
          <p:nvPr/>
        </p:nvSpPr>
        <p:spPr>
          <a:xfrm>
            <a:off x="1666062" y="194597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1"/>
            <a:stretch>
              <a:fillRect t="-167" b="-167"/>
            </a:stretch>
          </a:blipFill>
        </p:spPr>
      </p:sp>
      <p:sp>
        <p:nvSpPr>
          <p:cNvPr id="13" name="Freeform 13"/>
          <p:cNvSpPr/>
          <p:nvPr/>
        </p:nvSpPr>
        <p:spPr>
          <a:xfrm>
            <a:off x="7677927" y="2003120"/>
            <a:ext cx="2932147" cy="6356958"/>
          </a:xfrm>
          <a:custGeom>
            <a:avLst/>
            <a:gdLst/>
            <a:ahLst/>
            <a:cxnLst/>
            <a:rect l="l" t="t" r="r" b="b"/>
            <a:pathLst>
              <a:path w="2932147" h="6356958">
                <a:moveTo>
                  <a:pt x="0" y="0"/>
                </a:moveTo>
                <a:lnTo>
                  <a:pt x="2932146" y="0"/>
                </a:lnTo>
                <a:lnTo>
                  <a:pt x="2932146" y="6356958"/>
                </a:lnTo>
                <a:lnTo>
                  <a:pt x="0" y="6356958"/>
                </a:lnTo>
                <a:lnTo>
                  <a:pt x="0" y="0"/>
                </a:lnTo>
                <a:close/>
              </a:path>
            </a:pathLst>
          </a:custGeom>
          <a:blipFill>
            <a:blip r:embed="rId12"/>
            <a:stretch>
              <a:fillRect t="-135" b="-135"/>
            </a:stretch>
          </a:blipFill>
        </p:spPr>
      </p:sp>
      <p:sp>
        <p:nvSpPr>
          <p:cNvPr id="14" name="TextBox 14"/>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ANDROID APPLICATION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AutoShape 9"/>
          <p:cNvSpPr/>
          <p:nvPr/>
        </p:nvSpPr>
        <p:spPr>
          <a:xfrm flipV="1">
            <a:off x="10975977" y="5124450"/>
            <a:ext cx="1864418" cy="19050"/>
          </a:xfrm>
          <a:prstGeom prst="line">
            <a:avLst/>
          </a:prstGeom>
          <a:ln w="38100" cap="flat">
            <a:solidFill>
              <a:srgbClr val="000000"/>
            </a:solidFill>
            <a:prstDash val="solid"/>
            <a:headEnd type="none" w="sm" len="sm"/>
            <a:tailEnd type="arrow" w="med" len="sm"/>
          </a:ln>
        </p:spPr>
      </p:sp>
      <p:sp>
        <p:nvSpPr>
          <p:cNvPr id="10" name="AutoShape 10"/>
          <p:cNvSpPr/>
          <p:nvPr/>
        </p:nvSpPr>
        <p:spPr>
          <a:xfrm flipV="1">
            <a:off x="5286037" y="5162549"/>
            <a:ext cx="1864418" cy="19050"/>
          </a:xfrm>
          <a:prstGeom prst="line">
            <a:avLst/>
          </a:prstGeom>
          <a:ln w="38100" cap="flat">
            <a:solidFill>
              <a:srgbClr val="000000"/>
            </a:solidFill>
            <a:prstDash val="solid"/>
            <a:headEnd type="none" w="sm" len="sm"/>
            <a:tailEnd type="arrow" w="med" len="sm"/>
          </a:ln>
        </p:spPr>
      </p:sp>
      <p:sp>
        <p:nvSpPr>
          <p:cNvPr id="11" name="Freeform 11"/>
          <p:cNvSpPr/>
          <p:nvPr/>
        </p:nvSpPr>
        <p:spPr>
          <a:xfrm>
            <a:off x="13640690" y="196502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0"/>
            <a:stretch>
              <a:fillRect t="-167" b="-167"/>
            </a:stretch>
          </a:blipFill>
        </p:spPr>
      </p:sp>
      <p:sp>
        <p:nvSpPr>
          <p:cNvPr id="12" name="Freeform 12"/>
          <p:cNvSpPr/>
          <p:nvPr/>
        </p:nvSpPr>
        <p:spPr>
          <a:xfrm>
            <a:off x="1666062" y="1945971"/>
            <a:ext cx="2933981" cy="6356958"/>
          </a:xfrm>
          <a:custGeom>
            <a:avLst/>
            <a:gdLst/>
            <a:ahLst/>
            <a:cxnLst/>
            <a:rect l="l" t="t" r="r" b="b"/>
            <a:pathLst>
              <a:path w="2933981" h="6356958">
                <a:moveTo>
                  <a:pt x="0" y="0"/>
                </a:moveTo>
                <a:lnTo>
                  <a:pt x="2933980" y="0"/>
                </a:lnTo>
                <a:lnTo>
                  <a:pt x="2933980" y="6356958"/>
                </a:lnTo>
                <a:lnTo>
                  <a:pt x="0" y="6356958"/>
                </a:lnTo>
                <a:lnTo>
                  <a:pt x="0" y="0"/>
                </a:lnTo>
                <a:close/>
              </a:path>
            </a:pathLst>
          </a:custGeom>
          <a:blipFill>
            <a:blip r:embed="rId11"/>
            <a:stretch>
              <a:fillRect t="-167" b="-167"/>
            </a:stretch>
          </a:blipFill>
        </p:spPr>
      </p:sp>
      <p:sp>
        <p:nvSpPr>
          <p:cNvPr id="13" name="Freeform 13"/>
          <p:cNvSpPr/>
          <p:nvPr/>
        </p:nvSpPr>
        <p:spPr>
          <a:xfrm>
            <a:off x="7677927" y="2003120"/>
            <a:ext cx="2932147" cy="6356958"/>
          </a:xfrm>
          <a:custGeom>
            <a:avLst/>
            <a:gdLst/>
            <a:ahLst/>
            <a:cxnLst/>
            <a:rect l="l" t="t" r="r" b="b"/>
            <a:pathLst>
              <a:path w="2932147" h="6356958">
                <a:moveTo>
                  <a:pt x="0" y="0"/>
                </a:moveTo>
                <a:lnTo>
                  <a:pt x="2932146" y="0"/>
                </a:lnTo>
                <a:lnTo>
                  <a:pt x="2932146" y="6356958"/>
                </a:lnTo>
                <a:lnTo>
                  <a:pt x="0" y="6356958"/>
                </a:lnTo>
                <a:lnTo>
                  <a:pt x="0" y="0"/>
                </a:lnTo>
                <a:close/>
              </a:path>
            </a:pathLst>
          </a:custGeom>
          <a:blipFill>
            <a:blip r:embed="rId12"/>
            <a:stretch>
              <a:fillRect t="-135" b="-135"/>
            </a:stretch>
          </a:blipFill>
        </p:spPr>
      </p:sp>
      <p:sp>
        <p:nvSpPr>
          <p:cNvPr id="14" name="TextBox 14"/>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ANDROID APPLICATION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1186770" y="2867201"/>
            <a:ext cx="6183302" cy="5974877"/>
          </a:xfrm>
          <a:custGeom>
            <a:avLst/>
            <a:gdLst/>
            <a:ahLst/>
            <a:cxnLst/>
            <a:rect l="l" t="t" r="r" b="b"/>
            <a:pathLst>
              <a:path w="6183302" h="5974877">
                <a:moveTo>
                  <a:pt x="0" y="0"/>
                </a:moveTo>
                <a:lnTo>
                  <a:pt x="6183302" y="0"/>
                </a:lnTo>
                <a:lnTo>
                  <a:pt x="6183302" y="5974877"/>
                </a:lnTo>
                <a:lnTo>
                  <a:pt x="0" y="5974877"/>
                </a:lnTo>
                <a:lnTo>
                  <a:pt x="0" y="0"/>
                </a:lnTo>
                <a:close/>
              </a:path>
            </a:pathLst>
          </a:custGeom>
          <a:blipFill>
            <a:blip r:embed="rId10"/>
            <a:stretch>
              <a:fillRect/>
            </a:stretch>
          </a:blipFill>
        </p:spPr>
      </p:sp>
      <p:sp>
        <p:nvSpPr>
          <p:cNvPr id="10" name="Freeform 10"/>
          <p:cNvSpPr/>
          <p:nvPr/>
        </p:nvSpPr>
        <p:spPr>
          <a:xfrm>
            <a:off x="7828415" y="3162476"/>
            <a:ext cx="9430885" cy="5297465"/>
          </a:xfrm>
          <a:custGeom>
            <a:avLst/>
            <a:gdLst/>
            <a:ahLst/>
            <a:cxnLst/>
            <a:rect l="l" t="t" r="r" b="b"/>
            <a:pathLst>
              <a:path w="9430885" h="5297465">
                <a:moveTo>
                  <a:pt x="0" y="0"/>
                </a:moveTo>
                <a:lnTo>
                  <a:pt x="9430885" y="0"/>
                </a:lnTo>
                <a:lnTo>
                  <a:pt x="9430885" y="5297465"/>
                </a:lnTo>
                <a:lnTo>
                  <a:pt x="0" y="5297465"/>
                </a:lnTo>
                <a:lnTo>
                  <a:pt x="0" y="0"/>
                </a:lnTo>
                <a:close/>
              </a:path>
            </a:pathLst>
          </a:custGeom>
          <a:blipFill>
            <a:blip r:embed="rId11"/>
            <a:stretch>
              <a:fillRect r="-19832"/>
            </a:stretch>
          </a:blipFill>
        </p:spPr>
      </p:sp>
      <p:sp>
        <p:nvSpPr>
          <p:cNvPr id="11" name="TextBox 11"/>
          <p:cNvSpPr txBox="1"/>
          <p:nvPr/>
        </p:nvSpPr>
        <p:spPr>
          <a:xfrm>
            <a:off x="3069199" y="586249"/>
            <a:ext cx="12149602" cy="1209456"/>
          </a:xfrm>
          <a:prstGeom prst="rect">
            <a:avLst/>
          </a:prstGeom>
        </p:spPr>
        <p:txBody>
          <a:bodyPr lIns="0" tIns="0" rIns="0" bIns="0" rtlCol="0" anchor="t">
            <a:spAutoFit/>
          </a:bodyPr>
          <a:lstStyle/>
          <a:p>
            <a:pPr algn="ctr">
              <a:lnSpc>
                <a:spcPts val="7531"/>
              </a:lnSpc>
            </a:pPr>
            <a:r>
              <a:rPr lang="en-US" sz="8462" b="1">
                <a:solidFill>
                  <a:srgbClr val="034697"/>
                </a:solidFill>
                <a:latin typeface="Futura Bold"/>
                <a:ea typeface="Futura Bold"/>
                <a:cs typeface="Futura Bold"/>
                <a:sym typeface="Futura Bold"/>
              </a:rPr>
              <a:t>DESKTOP APPLICATION </a:t>
            </a:r>
          </a:p>
        </p:txBody>
      </p:sp>
      <p:sp>
        <p:nvSpPr>
          <p:cNvPr id="12" name="TextBox 12"/>
          <p:cNvSpPr txBox="1"/>
          <p:nvPr/>
        </p:nvSpPr>
        <p:spPr>
          <a:xfrm>
            <a:off x="6475690" y="1741669"/>
            <a:ext cx="5336620" cy="982657"/>
          </a:xfrm>
          <a:prstGeom prst="rect">
            <a:avLst/>
          </a:prstGeom>
        </p:spPr>
        <p:txBody>
          <a:bodyPr lIns="0" tIns="0" rIns="0" bIns="0" rtlCol="0" anchor="t">
            <a:spAutoFit/>
          </a:bodyPr>
          <a:lstStyle/>
          <a:p>
            <a:pPr algn="ctr">
              <a:lnSpc>
                <a:spcPts val="7262"/>
              </a:lnSpc>
              <a:spcBef>
                <a:spcPct val="0"/>
              </a:spcBef>
            </a:pPr>
            <a:r>
              <a:rPr lang="en-US" sz="5187" b="1">
                <a:solidFill>
                  <a:srgbClr val="034697"/>
                </a:solidFill>
                <a:latin typeface="Futura Bold"/>
                <a:ea typeface="Futura Bold"/>
                <a:cs typeface="Futura Bold"/>
                <a:sym typeface="Futura Bold"/>
              </a:rPr>
              <a:t>FEATURES AND UI </a:t>
            </a:r>
          </a:p>
        </p:txBody>
      </p:sp>
      <p:sp>
        <p:nvSpPr>
          <p:cNvPr id="13" name="AutoShape 13"/>
          <p:cNvSpPr/>
          <p:nvPr/>
        </p:nvSpPr>
        <p:spPr>
          <a:xfrm>
            <a:off x="7555710" y="5725151"/>
            <a:ext cx="1312743" cy="67008"/>
          </a:xfrm>
          <a:prstGeom prst="line">
            <a:avLst/>
          </a:prstGeom>
          <a:ln w="38100" cap="flat">
            <a:solidFill>
              <a:srgbClr val="000000"/>
            </a:solidFill>
            <a:prstDash val="solid"/>
            <a:headEnd type="none" w="sm" len="sm"/>
            <a:tailEnd type="arrow" w="med" len="sm"/>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0" y="297180"/>
            <a:ext cx="18288000" cy="9692640"/>
          </a:xfrm>
          <a:custGeom>
            <a:avLst/>
            <a:gdLst/>
            <a:ahLst/>
            <a:cxnLst/>
            <a:rect l="l" t="t" r="r" b="b"/>
            <a:pathLst>
              <a:path w="18288000" h="9692640">
                <a:moveTo>
                  <a:pt x="0" y="0"/>
                </a:moveTo>
                <a:lnTo>
                  <a:pt x="18288000" y="0"/>
                </a:lnTo>
                <a:lnTo>
                  <a:pt x="18288000" y="9692640"/>
                </a:lnTo>
                <a:lnTo>
                  <a:pt x="0" y="9692640"/>
                </a:lnTo>
                <a:lnTo>
                  <a:pt x="0" y="0"/>
                </a:lnTo>
                <a:close/>
              </a:path>
            </a:pathLst>
          </a:custGeom>
          <a:blipFill>
            <a:blip r:embed="rId2"/>
            <a:stretch>
              <a:fillRect/>
            </a:stretch>
          </a:blipFill>
        </p:spPr>
      </p:sp>
      <p:sp>
        <p:nvSpPr>
          <p:cNvPr id="3" name="TextBox 3"/>
          <p:cNvSpPr txBox="1"/>
          <p:nvPr/>
        </p:nvSpPr>
        <p:spPr>
          <a:xfrm>
            <a:off x="5329885" y="59055"/>
            <a:ext cx="7647280" cy="115864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USER DASHBOARD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10999363" y="4951667"/>
            <a:ext cx="7144762" cy="5065599"/>
          </a:xfrm>
          <a:custGeom>
            <a:avLst/>
            <a:gdLst/>
            <a:ahLst/>
            <a:cxnLst/>
            <a:rect l="l" t="t" r="r" b="b"/>
            <a:pathLst>
              <a:path w="7144762" h="5065599">
                <a:moveTo>
                  <a:pt x="0" y="0"/>
                </a:moveTo>
                <a:lnTo>
                  <a:pt x="7144762" y="0"/>
                </a:lnTo>
                <a:lnTo>
                  <a:pt x="7144762" y="5065599"/>
                </a:lnTo>
                <a:lnTo>
                  <a:pt x="0" y="5065599"/>
                </a:lnTo>
                <a:lnTo>
                  <a:pt x="0" y="0"/>
                </a:lnTo>
                <a:close/>
              </a:path>
            </a:pathLst>
          </a:custGeom>
          <a:blipFill>
            <a:blip r:embed="rId2"/>
            <a:stretch>
              <a:fillRect/>
            </a:stretch>
          </a:blipFill>
        </p:spPr>
      </p:sp>
      <p:sp>
        <p:nvSpPr>
          <p:cNvPr id="3" name="Freeform 3"/>
          <p:cNvSpPr/>
          <p:nvPr/>
        </p:nvSpPr>
        <p:spPr>
          <a:xfrm>
            <a:off x="284419" y="312108"/>
            <a:ext cx="10396771" cy="4639559"/>
          </a:xfrm>
          <a:custGeom>
            <a:avLst/>
            <a:gdLst/>
            <a:ahLst/>
            <a:cxnLst/>
            <a:rect l="l" t="t" r="r" b="b"/>
            <a:pathLst>
              <a:path w="10396771" h="4639559">
                <a:moveTo>
                  <a:pt x="0" y="0"/>
                </a:moveTo>
                <a:lnTo>
                  <a:pt x="10396771" y="0"/>
                </a:lnTo>
                <a:lnTo>
                  <a:pt x="10396771" y="4639559"/>
                </a:lnTo>
                <a:lnTo>
                  <a:pt x="0" y="4639559"/>
                </a:lnTo>
                <a:lnTo>
                  <a:pt x="0" y="0"/>
                </a:lnTo>
                <a:close/>
              </a:path>
            </a:pathLst>
          </a:custGeom>
          <a:blipFill>
            <a:blip r:embed="rId3"/>
            <a:stretch>
              <a:fillRect/>
            </a:stretch>
          </a:blipFill>
        </p:spPr>
      </p:sp>
      <p:sp>
        <p:nvSpPr>
          <p:cNvPr id="4" name="Freeform 4"/>
          <p:cNvSpPr/>
          <p:nvPr/>
        </p:nvSpPr>
        <p:spPr>
          <a:xfrm rot="5400000" flipH="1">
            <a:off x="10718597" y="991293"/>
            <a:ext cx="4039985" cy="4114800"/>
          </a:xfrm>
          <a:custGeom>
            <a:avLst/>
            <a:gdLst/>
            <a:ahLst/>
            <a:cxnLst/>
            <a:rect l="l" t="t" r="r" b="b"/>
            <a:pathLst>
              <a:path w="4039985" h="4114800">
                <a:moveTo>
                  <a:pt x="4039986" y="0"/>
                </a:moveTo>
                <a:lnTo>
                  <a:pt x="0" y="0"/>
                </a:lnTo>
                <a:lnTo>
                  <a:pt x="0" y="4114800"/>
                </a:lnTo>
                <a:lnTo>
                  <a:pt x="4039986" y="4114800"/>
                </a:lnTo>
                <a:lnTo>
                  <a:pt x="403998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431087" y="6624706"/>
            <a:ext cx="7153018" cy="115864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QUEUE JOINING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0" y="297180"/>
            <a:ext cx="18288000" cy="9692640"/>
          </a:xfrm>
          <a:custGeom>
            <a:avLst/>
            <a:gdLst/>
            <a:ahLst/>
            <a:cxnLst/>
            <a:rect l="l" t="t" r="r" b="b"/>
            <a:pathLst>
              <a:path w="18288000" h="9692640">
                <a:moveTo>
                  <a:pt x="0" y="0"/>
                </a:moveTo>
                <a:lnTo>
                  <a:pt x="18288000" y="0"/>
                </a:lnTo>
                <a:lnTo>
                  <a:pt x="18288000" y="9692640"/>
                </a:lnTo>
                <a:lnTo>
                  <a:pt x="0" y="9692640"/>
                </a:lnTo>
                <a:lnTo>
                  <a:pt x="0" y="0"/>
                </a:lnTo>
                <a:close/>
              </a:path>
            </a:pathLst>
          </a:custGeom>
          <a:blipFill>
            <a:blip r:embed="rId2"/>
            <a:stretch>
              <a:fillRect/>
            </a:stretch>
          </a:blipFill>
        </p:spPr>
      </p:sp>
      <p:sp>
        <p:nvSpPr>
          <p:cNvPr id="3" name="TextBox 3"/>
          <p:cNvSpPr txBox="1"/>
          <p:nvPr/>
        </p:nvSpPr>
        <p:spPr>
          <a:xfrm>
            <a:off x="6188547" y="-129944"/>
            <a:ext cx="6438448" cy="115864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USER HISTORY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514350" y="8858"/>
            <a:ext cx="17259300" cy="10269284"/>
          </a:xfrm>
          <a:custGeom>
            <a:avLst/>
            <a:gdLst/>
            <a:ahLst/>
            <a:cxnLst/>
            <a:rect l="l" t="t" r="r" b="b"/>
            <a:pathLst>
              <a:path w="17259300" h="10269284">
                <a:moveTo>
                  <a:pt x="0" y="0"/>
                </a:moveTo>
                <a:lnTo>
                  <a:pt x="17259300" y="0"/>
                </a:lnTo>
                <a:lnTo>
                  <a:pt x="17259300" y="10269284"/>
                </a:lnTo>
                <a:lnTo>
                  <a:pt x="0" y="10269284"/>
                </a:lnTo>
                <a:lnTo>
                  <a:pt x="0" y="0"/>
                </a:lnTo>
                <a:close/>
              </a:path>
            </a:pathLst>
          </a:custGeom>
          <a:blipFill>
            <a:blip r:embed="rId2"/>
            <a:stretch>
              <a:fillRect/>
            </a:stretch>
          </a:blipFill>
        </p:spPr>
      </p:sp>
      <p:sp>
        <p:nvSpPr>
          <p:cNvPr id="3" name="TextBox 3"/>
          <p:cNvSpPr txBox="1"/>
          <p:nvPr/>
        </p:nvSpPr>
        <p:spPr>
          <a:xfrm>
            <a:off x="5710683" y="-131229"/>
            <a:ext cx="6866633" cy="1159929"/>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USER SETTINGS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0" y="297180"/>
            <a:ext cx="18288000" cy="9692640"/>
          </a:xfrm>
          <a:custGeom>
            <a:avLst/>
            <a:gdLst/>
            <a:ahLst/>
            <a:cxnLst/>
            <a:rect l="l" t="t" r="r" b="b"/>
            <a:pathLst>
              <a:path w="18288000" h="9692640">
                <a:moveTo>
                  <a:pt x="0" y="0"/>
                </a:moveTo>
                <a:lnTo>
                  <a:pt x="18288000" y="0"/>
                </a:lnTo>
                <a:lnTo>
                  <a:pt x="18288000" y="9692640"/>
                </a:lnTo>
                <a:lnTo>
                  <a:pt x="0" y="9692640"/>
                </a:lnTo>
                <a:lnTo>
                  <a:pt x="0" y="0"/>
                </a:lnTo>
                <a:close/>
              </a:path>
            </a:pathLst>
          </a:custGeom>
          <a:blipFill>
            <a:blip r:embed="rId2"/>
            <a:stretch>
              <a:fillRect/>
            </a:stretch>
          </a:blipFill>
        </p:spPr>
      </p:sp>
      <p:sp>
        <p:nvSpPr>
          <p:cNvPr id="3" name="TextBox 3"/>
          <p:cNvSpPr txBox="1"/>
          <p:nvPr/>
        </p:nvSpPr>
        <p:spPr>
          <a:xfrm>
            <a:off x="5137464" y="-129944"/>
            <a:ext cx="9164072" cy="115864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ADMIN DASHBOARD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0" y="297180"/>
            <a:ext cx="18288000" cy="9692640"/>
          </a:xfrm>
          <a:custGeom>
            <a:avLst/>
            <a:gdLst/>
            <a:ahLst/>
            <a:cxnLst/>
            <a:rect l="l" t="t" r="r" b="b"/>
            <a:pathLst>
              <a:path w="18288000" h="9692640">
                <a:moveTo>
                  <a:pt x="0" y="0"/>
                </a:moveTo>
                <a:lnTo>
                  <a:pt x="18288000" y="0"/>
                </a:lnTo>
                <a:lnTo>
                  <a:pt x="18288000" y="9692640"/>
                </a:lnTo>
                <a:lnTo>
                  <a:pt x="0" y="9692640"/>
                </a:lnTo>
                <a:lnTo>
                  <a:pt x="0" y="0"/>
                </a:lnTo>
                <a:close/>
              </a:path>
            </a:pathLst>
          </a:custGeom>
          <a:blipFill>
            <a:blip r:embed="rId2"/>
            <a:stretch>
              <a:fillRect/>
            </a:stretch>
          </a:blipFill>
        </p:spPr>
      </p:sp>
      <p:sp>
        <p:nvSpPr>
          <p:cNvPr id="3" name="TextBox 3"/>
          <p:cNvSpPr txBox="1"/>
          <p:nvPr/>
        </p:nvSpPr>
        <p:spPr>
          <a:xfrm>
            <a:off x="3600959" y="-129944"/>
            <a:ext cx="11661582" cy="115864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DEPARTMENT MANAGEMENT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0" y="297180"/>
            <a:ext cx="18288000" cy="9692640"/>
          </a:xfrm>
          <a:custGeom>
            <a:avLst/>
            <a:gdLst/>
            <a:ahLst/>
            <a:cxnLst/>
            <a:rect l="l" t="t" r="r" b="b"/>
            <a:pathLst>
              <a:path w="18288000" h="9692640">
                <a:moveTo>
                  <a:pt x="0" y="0"/>
                </a:moveTo>
                <a:lnTo>
                  <a:pt x="18288000" y="0"/>
                </a:lnTo>
                <a:lnTo>
                  <a:pt x="18288000" y="9692640"/>
                </a:lnTo>
                <a:lnTo>
                  <a:pt x="0" y="9692640"/>
                </a:lnTo>
                <a:lnTo>
                  <a:pt x="0" y="0"/>
                </a:lnTo>
                <a:close/>
              </a:path>
            </a:pathLst>
          </a:custGeom>
          <a:blipFill>
            <a:blip r:embed="rId2"/>
            <a:stretch>
              <a:fillRect/>
            </a:stretch>
          </a:blipFill>
        </p:spPr>
      </p:sp>
      <p:sp>
        <p:nvSpPr>
          <p:cNvPr id="3" name="TextBox 3"/>
          <p:cNvSpPr txBox="1"/>
          <p:nvPr/>
        </p:nvSpPr>
        <p:spPr>
          <a:xfrm>
            <a:off x="4672142" y="-129944"/>
            <a:ext cx="10022778" cy="115864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DOCTOR MANAGEMENT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a:off x="0" y="297180"/>
            <a:ext cx="18288000" cy="9692640"/>
          </a:xfrm>
          <a:custGeom>
            <a:avLst/>
            <a:gdLst/>
            <a:ahLst/>
            <a:cxnLst/>
            <a:rect l="l" t="t" r="r" b="b"/>
            <a:pathLst>
              <a:path w="18288000" h="9692640">
                <a:moveTo>
                  <a:pt x="0" y="0"/>
                </a:moveTo>
                <a:lnTo>
                  <a:pt x="18288000" y="0"/>
                </a:lnTo>
                <a:lnTo>
                  <a:pt x="18288000" y="9692640"/>
                </a:lnTo>
                <a:lnTo>
                  <a:pt x="0" y="9692640"/>
                </a:lnTo>
                <a:lnTo>
                  <a:pt x="0" y="0"/>
                </a:lnTo>
                <a:close/>
              </a:path>
            </a:pathLst>
          </a:custGeom>
          <a:blipFill>
            <a:blip r:embed="rId2"/>
            <a:stretch>
              <a:fillRect/>
            </a:stretch>
          </a:blipFill>
        </p:spPr>
      </p:sp>
      <p:sp>
        <p:nvSpPr>
          <p:cNvPr id="3" name="TextBox 3"/>
          <p:cNvSpPr txBox="1"/>
          <p:nvPr/>
        </p:nvSpPr>
        <p:spPr>
          <a:xfrm>
            <a:off x="6492989" y="-129944"/>
            <a:ext cx="5302021" cy="115864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LIVE QUEUES</a:t>
            </a:r>
          </a:p>
        </p:txBody>
      </p:sp>
      <p:sp>
        <p:nvSpPr>
          <p:cNvPr id="4" name="TextBox 4"/>
          <p:cNvSpPr txBox="1"/>
          <p:nvPr/>
        </p:nvSpPr>
        <p:spPr>
          <a:xfrm>
            <a:off x="5097166" y="6410763"/>
            <a:ext cx="9748229" cy="2236254"/>
          </a:xfrm>
          <a:prstGeom prst="rect">
            <a:avLst/>
          </a:prstGeom>
        </p:spPr>
        <p:txBody>
          <a:bodyPr lIns="0" tIns="0" rIns="0" bIns="0" rtlCol="0" anchor="t">
            <a:spAutoFit/>
          </a:bodyPr>
          <a:lstStyle/>
          <a:p>
            <a:pPr algn="ctr">
              <a:lnSpc>
                <a:spcPts val="8516"/>
              </a:lnSpc>
              <a:spcBef>
                <a:spcPct val="0"/>
              </a:spcBef>
            </a:pPr>
            <a:r>
              <a:rPr lang="en-US" sz="6083" b="1">
                <a:solidFill>
                  <a:srgbClr val="000000"/>
                </a:solidFill>
                <a:latin typeface="Futura Bold"/>
                <a:ea typeface="Futura Bold"/>
                <a:cs typeface="Futura Bold"/>
                <a:sym typeface="Futura Bold"/>
              </a:rPr>
              <a:t>WHERE ADMIN WILL UPDATE STATUS OF QUEUES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3454343" y="2995612"/>
            <a:ext cx="11379314" cy="5800038"/>
          </a:xfrm>
          <a:custGeom>
            <a:avLst/>
            <a:gdLst/>
            <a:ahLst/>
            <a:cxnLst/>
            <a:rect l="l" t="t" r="r" b="b"/>
            <a:pathLst>
              <a:path w="11379314" h="5800038">
                <a:moveTo>
                  <a:pt x="0" y="0"/>
                </a:moveTo>
                <a:lnTo>
                  <a:pt x="11379314" y="0"/>
                </a:lnTo>
                <a:lnTo>
                  <a:pt x="11379314" y="5800039"/>
                </a:lnTo>
                <a:lnTo>
                  <a:pt x="0" y="5800039"/>
                </a:lnTo>
                <a:lnTo>
                  <a:pt x="0" y="0"/>
                </a:lnTo>
                <a:close/>
              </a:path>
            </a:pathLst>
          </a:custGeom>
          <a:blipFill>
            <a:blip r:embed="rId10"/>
            <a:stretch>
              <a:fillRect/>
            </a:stretch>
          </a:blipFill>
        </p:spPr>
      </p:sp>
      <p:sp>
        <p:nvSpPr>
          <p:cNvPr id="11" name="TextBox 11"/>
          <p:cNvSpPr txBox="1"/>
          <p:nvPr/>
        </p:nvSpPr>
        <p:spPr>
          <a:xfrm>
            <a:off x="3526457" y="-44373"/>
            <a:ext cx="11235086" cy="1784196"/>
          </a:xfrm>
          <a:prstGeom prst="rect">
            <a:avLst/>
          </a:prstGeom>
        </p:spPr>
        <p:txBody>
          <a:bodyPr lIns="0" tIns="0" rIns="0" bIns="0" rtlCol="0" anchor="t">
            <a:spAutoFit/>
          </a:bodyPr>
          <a:lstStyle/>
          <a:p>
            <a:pPr algn="ctr">
              <a:lnSpc>
                <a:spcPts val="13140"/>
              </a:lnSpc>
              <a:spcBef>
                <a:spcPct val="0"/>
              </a:spcBef>
            </a:pPr>
            <a:r>
              <a:rPr lang="en-US" sz="9386" b="1">
                <a:solidFill>
                  <a:srgbClr val="004AAD"/>
                </a:solidFill>
                <a:latin typeface="Futura Bold"/>
                <a:ea typeface="Futura Bold"/>
                <a:cs typeface="Futura Bold"/>
                <a:sym typeface="Futura Bold"/>
              </a:rPr>
              <a:t>GIT CONTRIBUTION</a:t>
            </a:r>
          </a:p>
        </p:txBody>
      </p:sp>
      <p:sp>
        <p:nvSpPr>
          <p:cNvPr id="12" name="TextBox 12"/>
          <p:cNvSpPr txBox="1"/>
          <p:nvPr/>
        </p:nvSpPr>
        <p:spPr>
          <a:xfrm>
            <a:off x="7255741" y="1567105"/>
            <a:ext cx="3776519" cy="1041819"/>
          </a:xfrm>
          <a:prstGeom prst="rect">
            <a:avLst/>
          </a:prstGeom>
        </p:spPr>
        <p:txBody>
          <a:bodyPr lIns="0" tIns="0" rIns="0" bIns="0" rtlCol="0" anchor="t">
            <a:spAutoFit/>
          </a:bodyPr>
          <a:lstStyle/>
          <a:p>
            <a:pPr algn="ctr">
              <a:lnSpc>
                <a:spcPts val="7676"/>
              </a:lnSpc>
              <a:spcBef>
                <a:spcPct val="0"/>
              </a:spcBef>
            </a:pPr>
            <a:r>
              <a:rPr lang="en-US" sz="5483" b="1">
                <a:solidFill>
                  <a:srgbClr val="004AAD"/>
                </a:solidFill>
                <a:latin typeface="Futura Bold"/>
                <a:ea typeface="Futura Bold"/>
                <a:cs typeface="Futura Bold"/>
                <a:sym typeface="Futura Bold"/>
              </a:rPr>
              <a:t>ANDROID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3454343" y="2995612"/>
            <a:ext cx="11379314" cy="5800038"/>
          </a:xfrm>
          <a:custGeom>
            <a:avLst/>
            <a:gdLst/>
            <a:ahLst/>
            <a:cxnLst/>
            <a:rect l="l" t="t" r="r" b="b"/>
            <a:pathLst>
              <a:path w="11379314" h="5800038">
                <a:moveTo>
                  <a:pt x="0" y="0"/>
                </a:moveTo>
                <a:lnTo>
                  <a:pt x="11379314" y="0"/>
                </a:lnTo>
                <a:lnTo>
                  <a:pt x="11379314" y="5800039"/>
                </a:lnTo>
                <a:lnTo>
                  <a:pt x="0" y="5800039"/>
                </a:lnTo>
                <a:lnTo>
                  <a:pt x="0" y="0"/>
                </a:lnTo>
                <a:close/>
              </a:path>
            </a:pathLst>
          </a:custGeom>
          <a:blipFill>
            <a:blip r:embed="rId10"/>
            <a:stretch>
              <a:fillRect t="-118" b="-118"/>
            </a:stretch>
          </a:blipFill>
        </p:spPr>
      </p:sp>
      <p:sp>
        <p:nvSpPr>
          <p:cNvPr id="11" name="TextBox 11"/>
          <p:cNvSpPr txBox="1"/>
          <p:nvPr/>
        </p:nvSpPr>
        <p:spPr>
          <a:xfrm>
            <a:off x="7423619" y="1567105"/>
            <a:ext cx="3440763" cy="1041819"/>
          </a:xfrm>
          <a:prstGeom prst="rect">
            <a:avLst/>
          </a:prstGeom>
        </p:spPr>
        <p:txBody>
          <a:bodyPr lIns="0" tIns="0" rIns="0" bIns="0" rtlCol="0" anchor="t">
            <a:spAutoFit/>
          </a:bodyPr>
          <a:lstStyle/>
          <a:p>
            <a:pPr algn="ctr">
              <a:lnSpc>
                <a:spcPts val="7676"/>
              </a:lnSpc>
              <a:spcBef>
                <a:spcPct val="0"/>
              </a:spcBef>
            </a:pPr>
            <a:r>
              <a:rPr lang="en-US" sz="5483" b="1">
                <a:solidFill>
                  <a:srgbClr val="004AAD"/>
                </a:solidFill>
                <a:latin typeface="Futura Bold"/>
                <a:ea typeface="Futura Bold"/>
                <a:cs typeface="Futura Bold"/>
                <a:sym typeface="Futura Bold"/>
              </a:rPr>
              <a:t>DESKTOP</a:t>
            </a:r>
          </a:p>
        </p:txBody>
      </p:sp>
      <p:sp>
        <p:nvSpPr>
          <p:cNvPr id="12" name="TextBox 12"/>
          <p:cNvSpPr txBox="1"/>
          <p:nvPr/>
        </p:nvSpPr>
        <p:spPr>
          <a:xfrm>
            <a:off x="3526457" y="-44373"/>
            <a:ext cx="11235086" cy="1784196"/>
          </a:xfrm>
          <a:prstGeom prst="rect">
            <a:avLst/>
          </a:prstGeom>
        </p:spPr>
        <p:txBody>
          <a:bodyPr lIns="0" tIns="0" rIns="0" bIns="0" rtlCol="0" anchor="t">
            <a:spAutoFit/>
          </a:bodyPr>
          <a:lstStyle/>
          <a:p>
            <a:pPr algn="ctr">
              <a:lnSpc>
                <a:spcPts val="13140"/>
              </a:lnSpc>
              <a:spcBef>
                <a:spcPct val="0"/>
              </a:spcBef>
            </a:pPr>
            <a:r>
              <a:rPr lang="en-US" sz="9386" b="1">
                <a:solidFill>
                  <a:srgbClr val="004AAD"/>
                </a:solidFill>
                <a:latin typeface="Futura Bold"/>
                <a:ea typeface="Futura Bold"/>
                <a:cs typeface="Futura Bold"/>
                <a:sym typeface="Futura Bold"/>
              </a:rPr>
              <a:t>GIT CONTRIBUTION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2409654" y="2647024"/>
            <a:ext cx="13468693" cy="6633331"/>
          </a:xfrm>
          <a:custGeom>
            <a:avLst/>
            <a:gdLst/>
            <a:ahLst/>
            <a:cxnLst/>
            <a:rect l="l" t="t" r="r" b="b"/>
            <a:pathLst>
              <a:path w="13468693" h="6633331">
                <a:moveTo>
                  <a:pt x="0" y="0"/>
                </a:moveTo>
                <a:lnTo>
                  <a:pt x="13468692" y="0"/>
                </a:lnTo>
                <a:lnTo>
                  <a:pt x="13468692" y="6633331"/>
                </a:lnTo>
                <a:lnTo>
                  <a:pt x="0" y="6633331"/>
                </a:lnTo>
                <a:lnTo>
                  <a:pt x="0" y="0"/>
                </a:lnTo>
                <a:close/>
              </a:path>
            </a:pathLst>
          </a:custGeom>
          <a:blipFill>
            <a:blip r:embed="rId10"/>
            <a:stretch>
              <a:fillRect/>
            </a:stretch>
          </a:blipFill>
        </p:spPr>
      </p:sp>
      <p:sp>
        <p:nvSpPr>
          <p:cNvPr id="11" name="TextBox 11"/>
          <p:cNvSpPr txBox="1"/>
          <p:nvPr/>
        </p:nvSpPr>
        <p:spPr>
          <a:xfrm>
            <a:off x="7423619" y="1567105"/>
            <a:ext cx="3440763" cy="1041819"/>
          </a:xfrm>
          <a:prstGeom prst="rect">
            <a:avLst/>
          </a:prstGeom>
        </p:spPr>
        <p:txBody>
          <a:bodyPr lIns="0" tIns="0" rIns="0" bIns="0" rtlCol="0" anchor="t">
            <a:spAutoFit/>
          </a:bodyPr>
          <a:lstStyle/>
          <a:p>
            <a:pPr algn="ctr">
              <a:lnSpc>
                <a:spcPts val="7676"/>
              </a:lnSpc>
              <a:spcBef>
                <a:spcPct val="0"/>
              </a:spcBef>
            </a:pPr>
            <a:r>
              <a:rPr lang="en-US" sz="5483" b="1">
                <a:solidFill>
                  <a:srgbClr val="004AAD"/>
                </a:solidFill>
                <a:latin typeface="Futura Bold"/>
                <a:ea typeface="Futura Bold"/>
                <a:cs typeface="Futura Bold"/>
                <a:sym typeface="Futura Bold"/>
              </a:rPr>
              <a:t>ANDROID</a:t>
            </a:r>
          </a:p>
        </p:txBody>
      </p:sp>
      <p:sp>
        <p:nvSpPr>
          <p:cNvPr id="12" name="TextBox 12"/>
          <p:cNvSpPr txBox="1"/>
          <p:nvPr/>
        </p:nvSpPr>
        <p:spPr>
          <a:xfrm>
            <a:off x="3526457" y="-44373"/>
            <a:ext cx="11235086" cy="1784196"/>
          </a:xfrm>
          <a:prstGeom prst="rect">
            <a:avLst/>
          </a:prstGeom>
        </p:spPr>
        <p:txBody>
          <a:bodyPr lIns="0" tIns="0" rIns="0" bIns="0" rtlCol="0" anchor="t">
            <a:spAutoFit/>
          </a:bodyPr>
          <a:lstStyle/>
          <a:p>
            <a:pPr algn="ctr">
              <a:lnSpc>
                <a:spcPts val="13140"/>
              </a:lnSpc>
              <a:spcBef>
                <a:spcPct val="0"/>
              </a:spcBef>
            </a:pPr>
            <a:r>
              <a:rPr lang="en-US" sz="9386" b="1">
                <a:solidFill>
                  <a:srgbClr val="004AAD"/>
                </a:solidFill>
                <a:latin typeface="Futura Bold"/>
                <a:ea typeface="Futura Bold"/>
                <a:cs typeface="Futura Bold"/>
                <a:sym typeface="Futura Bold"/>
              </a:rPr>
              <a:t>GIT HISTORY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2161862" y="2742045"/>
            <a:ext cx="13964277" cy="6383135"/>
          </a:xfrm>
          <a:custGeom>
            <a:avLst/>
            <a:gdLst/>
            <a:ahLst/>
            <a:cxnLst/>
            <a:rect l="l" t="t" r="r" b="b"/>
            <a:pathLst>
              <a:path w="13964277" h="6383135">
                <a:moveTo>
                  <a:pt x="0" y="0"/>
                </a:moveTo>
                <a:lnTo>
                  <a:pt x="13964276" y="0"/>
                </a:lnTo>
                <a:lnTo>
                  <a:pt x="13964276" y="6383134"/>
                </a:lnTo>
                <a:lnTo>
                  <a:pt x="0" y="6383134"/>
                </a:lnTo>
                <a:lnTo>
                  <a:pt x="0" y="0"/>
                </a:lnTo>
                <a:close/>
              </a:path>
            </a:pathLst>
          </a:custGeom>
          <a:blipFill>
            <a:blip r:embed="rId10"/>
            <a:stretch>
              <a:fillRect/>
            </a:stretch>
          </a:blipFill>
        </p:spPr>
      </p:sp>
      <p:sp>
        <p:nvSpPr>
          <p:cNvPr id="11" name="TextBox 11"/>
          <p:cNvSpPr txBox="1"/>
          <p:nvPr/>
        </p:nvSpPr>
        <p:spPr>
          <a:xfrm>
            <a:off x="7423619" y="1567105"/>
            <a:ext cx="3440763" cy="1041819"/>
          </a:xfrm>
          <a:prstGeom prst="rect">
            <a:avLst/>
          </a:prstGeom>
        </p:spPr>
        <p:txBody>
          <a:bodyPr lIns="0" tIns="0" rIns="0" bIns="0" rtlCol="0" anchor="t">
            <a:spAutoFit/>
          </a:bodyPr>
          <a:lstStyle/>
          <a:p>
            <a:pPr algn="ctr">
              <a:lnSpc>
                <a:spcPts val="7676"/>
              </a:lnSpc>
              <a:spcBef>
                <a:spcPct val="0"/>
              </a:spcBef>
            </a:pPr>
            <a:r>
              <a:rPr lang="en-US" sz="5483" b="1">
                <a:solidFill>
                  <a:srgbClr val="004AAD"/>
                </a:solidFill>
                <a:latin typeface="Futura Bold"/>
                <a:ea typeface="Futura Bold"/>
                <a:cs typeface="Futura Bold"/>
                <a:sym typeface="Futura Bold"/>
              </a:rPr>
              <a:t>ANDROID</a:t>
            </a:r>
          </a:p>
        </p:txBody>
      </p:sp>
      <p:sp>
        <p:nvSpPr>
          <p:cNvPr id="12" name="TextBox 12"/>
          <p:cNvSpPr txBox="1"/>
          <p:nvPr/>
        </p:nvSpPr>
        <p:spPr>
          <a:xfrm>
            <a:off x="3526457" y="-44373"/>
            <a:ext cx="11235086" cy="1784196"/>
          </a:xfrm>
          <a:prstGeom prst="rect">
            <a:avLst/>
          </a:prstGeom>
        </p:spPr>
        <p:txBody>
          <a:bodyPr lIns="0" tIns="0" rIns="0" bIns="0" rtlCol="0" anchor="t">
            <a:spAutoFit/>
          </a:bodyPr>
          <a:lstStyle/>
          <a:p>
            <a:pPr algn="ctr">
              <a:lnSpc>
                <a:spcPts val="13140"/>
              </a:lnSpc>
              <a:spcBef>
                <a:spcPct val="0"/>
              </a:spcBef>
            </a:pPr>
            <a:r>
              <a:rPr lang="en-US" sz="9386" b="1">
                <a:solidFill>
                  <a:srgbClr val="004AAD"/>
                </a:solidFill>
                <a:latin typeface="Futura Bold"/>
                <a:ea typeface="Futura Bold"/>
                <a:cs typeface="Futura Bold"/>
                <a:sym typeface="Futura Bold"/>
              </a:rPr>
              <a:t>GIT HISTORY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2986012" y="2608924"/>
            <a:ext cx="12315976" cy="7374191"/>
          </a:xfrm>
          <a:custGeom>
            <a:avLst/>
            <a:gdLst/>
            <a:ahLst/>
            <a:cxnLst/>
            <a:rect l="l" t="t" r="r" b="b"/>
            <a:pathLst>
              <a:path w="12315976" h="7374191">
                <a:moveTo>
                  <a:pt x="0" y="0"/>
                </a:moveTo>
                <a:lnTo>
                  <a:pt x="12315976" y="0"/>
                </a:lnTo>
                <a:lnTo>
                  <a:pt x="12315976" y="7374191"/>
                </a:lnTo>
                <a:lnTo>
                  <a:pt x="0" y="7374191"/>
                </a:lnTo>
                <a:lnTo>
                  <a:pt x="0" y="0"/>
                </a:lnTo>
                <a:close/>
              </a:path>
            </a:pathLst>
          </a:custGeom>
          <a:blipFill>
            <a:blip r:embed="rId10"/>
            <a:stretch>
              <a:fillRect/>
            </a:stretch>
          </a:blipFill>
        </p:spPr>
      </p:sp>
      <p:sp>
        <p:nvSpPr>
          <p:cNvPr id="11" name="TextBox 11"/>
          <p:cNvSpPr txBox="1"/>
          <p:nvPr/>
        </p:nvSpPr>
        <p:spPr>
          <a:xfrm>
            <a:off x="7423619" y="1567105"/>
            <a:ext cx="3440763" cy="1041819"/>
          </a:xfrm>
          <a:prstGeom prst="rect">
            <a:avLst/>
          </a:prstGeom>
        </p:spPr>
        <p:txBody>
          <a:bodyPr lIns="0" tIns="0" rIns="0" bIns="0" rtlCol="0" anchor="t">
            <a:spAutoFit/>
          </a:bodyPr>
          <a:lstStyle/>
          <a:p>
            <a:pPr algn="ctr">
              <a:lnSpc>
                <a:spcPts val="7676"/>
              </a:lnSpc>
              <a:spcBef>
                <a:spcPct val="0"/>
              </a:spcBef>
            </a:pPr>
            <a:r>
              <a:rPr lang="en-US" sz="5483" b="1">
                <a:solidFill>
                  <a:srgbClr val="004AAD"/>
                </a:solidFill>
                <a:latin typeface="Futura Bold"/>
                <a:ea typeface="Futura Bold"/>
                <a:cs typeface="Futura Bold"/>
                <a:sym typeface="Futura Bold"/>
              </a:rPr>
              <a:t>ANDROID</a:t>
            </a:r>
          </a:p>
        </p:txBody>
      </p:sp>
      <p:sp>
        <p:nvSpPr>
          <p:cNvPr id="12" name="TextBox 12"/>
          <p:cNvSpPr txBox="1"/>
          <p:nvPr/>
        </p:nvSpPr>
        <p:spPr>
          <a:xfrm>
            <a:off x="3526457" y="-44373"/>
            <a:ext cx="11235086" cy="1784196"/>
          </a:xfrm>
          <a:prstGeom prst="rect">
            <a:avLst/>
          </a:prstGeom>
        </p:spPr>
        <p:txBody>
          <a:bodyPr lIns="0" tIns="0" rIns="0" bIns="0" rtlCol="0" anchor="t">
            <a:spAutoFit/>
          </a:bodyPr>
          <a:lstStyle/>
          <a:p>
            <a:pPr algn="ctr">
              <a:lnSpc>
                <a:spcPts val="13140"/>
              </a:lnSpc>
              <a:spcBef>
                <a:spcPct val="0"/>
              </a:spcBef>
            </a:pPr>
            <a:r>
              <a:rPr lang="en-US" sz="9386" b="1">
                <a:solidFill>
                  <a:srgbClr val="004AAD"/>
                </a:solidFill>
                <a:latin typeface="Futura Bold"/>
                <a:ea typeface="Futura Bold"/>
                <a:cs typeface="Futura Bold"/>
                <a:sym typeface="Futura Bold"/>
              </a:rPr>
              <a:t>GIT HISTORY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63290" y="2679966"/>
            <a:ext cx="14761421" cy="6716446"/>
          </a:xfrm>
          <a:custGeom>
            <a:avLst/>
            <a:gdLst/>
            <a:ahLst/>
            <a:cxnLst/>
            <a:rect l="l" t="t" r="r" b="b"/>
            <a:pathLst>
              <a:path w="14761421" h="6716446">
                <a:moveTo>
                  <a:pt x="0" y="0"/>
                </a:moveTo>
                <a:lnTo>
                  <a:pt x="14761420" y="0"/>
                </a:lnTo>
                <a:lnTo>
                  <a:pt x="14761420" y="6716446"/>
                </a:lnTo>
                <a:lnTo>
                  <a:pt x="0" y="6716446"/>
                </a:lnTo>
                <a:lnTo>
                  <a:pt x="0" y="0"/>
                </a:lnTo>
                <a:close/>
              </a:path>
            </a:pathLst>
          </a:custGeom>
          <a:blipFill>
            <a:blip r:embed="rId10"/>
            <a:stretch>
              <a:fillRect/>
            </a:stretch>
          </a:blipFill>
        </p:spPr>
      </p:sp>
      <p:sp>
        <p:nvSpPr>
          <p:cNvPr id="11" name="TextBox 11"/>
          <p:cNvSpPr txBox="1"/>
          <p:nvPr/>
        </p:nvSpPr>
        <p:spPr>
          <a:xfrm>
            <a:off x="7423619" y="1567105"/>
            <a:ext cx="3440763" cy="1041819"/>
          </a:xfrm>
          <a:prstGeom prst="rect">
            <a:avLst/>
          </a:prstGeom>
        </p:spPr>
        <p:txBody>
          <a:bodyPr lIns="0" tIns="0" rIns="0" bIns="0" rtlCol="0" anchor="t">
            <a:spAutoFit/>
          </a:bodyPr>
          <a:lstStyle/>
          <a:p>
            <a:pPr algn="ctr">
              <a:lnSpc>
                <a:spcPts val="7676"/>
              </a:lnSpc>
              <a:spcBef>
                <a:spcPct val="0"/>
              </a:spcBef>
            </a:pPr>
            <a:r>
              <a:rPr lang="en-US" sz="5483" b="1">
                <a:solidFill>
                  <a:srgbClr val="004AAD"/>
                </a:solidFill>
                <a:latin typeface="Futura Bold"/>
                <a:ea typeface="Futura Bold"/>
                <a:cs typeface="Futura Bold"/>
                <a:sym typeface="Futura Bold"/>
              </a:rPr>
              <a:t>DESKTOP</a:t>
            </a:r>
          </a:p>
        </p:txBody>
      </p:sp>
      <p:sp>
        <p:nvSpPr>
          <p:cNvPr id="12" name="TextBox 12"/>
          <p:cNvSpPr txBox="1"/>
          <p:nvPr/>
        </p:nvSpPr>
        <p:spPr>
          <a:xfrm>
            <a:off x="3526457" y="-44373"/>
            <a:ext cx="11235086" cy="1784196"/>
          </a:xfrm>
          <a:prstGeom prst="rect">
            <a:avLst/>
          </a:prstGeom>
        </p:spPr>
        <p:txBody>
          <a:bodyPr lIns="0" tIns="0" rIns="0" bIns="0" rtlCol="0" anchor="t">
            <a:spAutoFit/>
          </a:bodyPr>
          <a:lstStyle/>
          <a:p>
            <a:pPr algn="ctr">
              <a:lnSpc>
                <a:spcPts val="13140"/>
              </a:lnSpc>
              <a:spcBef>
                <a:spcPct val="0"/>
              </a:spcBef>
            </a:pPr>
            <a:r>
              <a:rPr lang="en-US" sz="9386" b="1">
                <a:solidFill>
                  <a:srgbClr val="004AAD"/>
                </a:solidFill>
                <a:latin typeface="Futura Bold"/>
                <a:ea typeface="Futura Bold"/>
                <a:cs typeface="Futura Bold"/>
                <a:sym typeface="Futura Bold"/>
              </a:rPr>
              <a:t>GIT HISTORY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2264695" y="2608924"/>
            <a:ext cx="13758610" cy="6982494"/>
          </a:xfrm>
          <a:custGeom>
            <a:avLst/>
            <a:gdLst/>
            <a:ahLst/>
            <a:cxnLst/>
            <a:rect l="l" t="t" r="r" b="b"/>
            <a:pathLst>
              <a:path w="13758610" h="6982494">
                <a:moveTo>
                  <a:pt x="0" y="0"/>
                </a:moveTo>
                <a:lnTo>
                  <a:pt x="13758610" y="0"/>
                </a:lnTo>
                <a:lnTo>
                  <a:pt x="13758610" y="6982495"/>
                </a:lnTo>
                <a:lnTo>
                  <a:pt x="0" y="6982495"/>
                </a:lnTo>
                <a:lnTo>
                  <a:pt x="0" y="0"/>
                </a:lnTo>
                <a:close/>
              </a:path>
            </a:pathLst>
          </a:custGeom>
          <a:blipFill>
            <a:blip r:embed="rId10"/>
            <a:stretch>
              <a:fillRect/>
            </a:stretch>
          </a:blipFill>
        </p:spPr>
      </p:sp>
      <p:sp>
        <p:nvSpPr>
          <p:cNvPr id="11" name="TextBox 11"/>
          <p:cNvSpPr txBox="1"/>
          <p:nvPr/>
        </p:nvSpPr>
        <p:spPr>
          <a:xfrm>
            <a:off x="7423619" y="1567105"/>
            <a:ext cx="3440763" cy="1041819"/>
          </a:xfrm>
          <a:prstGeom prst="rect">
            <a:avLst/>
          </a:prstGeom>
        </p:spPr>
        <p:txBody>
          <a:bodyPr lIns="0" tIns="0" rIns="0" bIns="0" rtlCol="0" anchor="t">
            <a:spAutoFit/>
          </a:bodyPr>
          <a:lstStyle/>
          <a:p>
            <a:pPr algn="ctr">
              <a:lnSpc>
                <a:spcPts val="7676"/>
              </a:lnSpc>
              <a:spcBef>
                <a:spcPct val="0"/>
              </a:spcBef>
            </a:pPr>
            <a:r>
              <a:rPr lang="en-US" sz="5483" b="1">
                <a:solidFill>
                  <a:srgbClr val="004AAD"/>
                </a:solidFill>
                <a:latin typeface="Futura Bold"/>
                <a:ea typeface="Futura Bold"/>
                <a:cs typeface="Futura Bold"/>
                <a:sym typeface="Futura Bold"/>
              </a:rPr>
              <a:t>DESKTOP</a:t>
            </a:r>
          </a:p>
        </p:txBody>
      </p:sp>
      <p:sp>
        <p:nvSpPr>
          <p:cNvPr id="12" name="TextBox 12"/>
          <p:cNvSpPr txBox="1"/>
          <p:nvPr/>
        </p:nvSpPr>
        <p:spPr>
          <a:xfrm>
            <a:off x="3526457" y="-44373"/>
            <a:ext cx="11235086" cy="1784196"/>
          </a:xfrm>
          <a:prstGeom prst="rect">
            <a:avLst/>
          </a:prstGeom>
        </p:spPr>
        <p:txBody>
          <a:bodyPr lIns="0" tIns="0" rIns="0" bIns="0" rtlCol="0" anchor="t">
            <a:spAutoFit/>
          </a:bodyPr>
          <a:lstStyle/>
          <a:p>
            <a:pPr algn="ctr">
              <a:lnSpc>
                <a:spcPts val="13140"/>
              </a:lnSpc>
              <a:spcBef>
                <a:spcPct val="0"/>
              </a:spcBef>
            </a:pPr>
            <a:r>
              <a:rPr lang="en-US" sz="9386" b="1">
                <a:solidFill>
                  <a:srgbClr val="004AAD"/>
                </a:solidFill>
                <a:latin typeface="Futura Bold"/>
                <a:ea typeface="Futura Bold"/>
                <a:cs typeface="Futura Bold"/>
                <a:sym typeface="Futura Bold"/>
              </a:rPr>
              <a:t>GIT HISTORY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D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2177514" y="1809906"/>
            <a:ext cx="13932971" cy="1967817"/>
          </a:xfrm>
          <a:prstGeom prst="rect">
            <a:avLst/>
          </a:prstGeom>
        </p:spPr>
        <p:txBody>
          <a:bodyPr lIns="0" tIns="0" rIns="0" bIns="0" rtlCol="0" anchor="t">
            <a:spAutoFit/>
          </a:bodyPr>
          <a:lstStyle/>
          <a:p>
            <a:pPr algn="ctr">
              <a:lnSpc>
                <a:spcPts val="12364"/>
              </a:lnSpc>
            </a:pPr>
            <a:r>
              <a:rPr lang="en-US" sz="13892" b="1" dirty="0">
                <a:solidFill>
                  <a:srgbClr val="034697"/>
                </a:solidFill>
                <a:latin typeface="Futura Bold"/>
                <a:ea typeface="Futura Bold"/>
                <a:cs typeface="Futura Bold"/>
                <a:sym typeface="Futura Bold"/>
              </a:rPr>
              <a:t>THANK YOU</a:t>
            </a:r>
          </a:p>
        </p:txBody>
      </p:sp>
      <p:sp>
        <p:nvSpPr>
          <p:cNvPr id="11" name="TextBox 11"/>
          <p:cNvSpPr txBox="1"/>
          <p:nvPr/>
        </p:nvSpPr>
        <p:spPr>
          <a:xfrm>
            <a:off x="4975622" y="4606344"/>
            <a:ext cx="8336756" cy="864019"/>
          </a:xfrm>
          <a:prstGeom prst="rect">
            <a:avLst/>
          </a:prstGeom>
        </p:spPr>
        <p:txBody>
          <a:bodyPr wrap="square" lIns="0" tIns="0" rIns="0" bIns="0" rtlCol="0" anchor="t">
            <a:spAutoFit/>
          </a:bodyPr>
          <a:lstStyle/>
          <a:p>
            <a:pPr algn="ctr">
              <a:lnSpc>
                <a:spcPts val="7699"/>
              </a:lnSpc>
              <a:spcBef>
                <a:spcPct val="0"/>
              </a:spcBef>
            </a:pPr>
            <a:r>
              <a:rPr lang="en-US" sz="5499" b="1" u="sng" dirty="0">
                <a:solidFill>
                  <a:srgbClr val="0070C0"/>
                </a:solidFill>
                <a:latin typeface="Futura Bold"/>
                <a:ea typeface="Futura Bold"/>
                <a:cs typeface="Futura Bold"/>
                <a:sym typeface="Futura Bold"/>
                <a:hlinkClick r:id="rId10" tooltip="https://github.com/Mutiur03/QSync_2207097_Android">
                  <a:extLst>
                    <a:ext uri="{A12FA001-AC4F-418D-AE19-62706E023703}">
                      <ahyp:hlinkClr xmlns:ahyp="http://schemas.microsoft.com/office/drawing/2018/hyperlinkcolor" val="tx"/>
                    </a:ext>
                  </a:extLst>
                </a:hlinkClick>
              </a:rPr>
              <a:t>ANDROID GITHUB REPO</a:t>
            </a:r>
          </a:p>
        </p:txBody>
      </p:sp>
      <p:sp>
        <p:nvSpPr>
          <p:cNvPr id="12" name="TextBox 12"/>
          <p:cNvSpPr txBox="1"/>
          <p:nvPr/>
        </p:nvSpPr>
        <p:spPr>
          <a:xfrm>
            <a:off x="5544860" y="6225283"/>
            <a:ext cx="7198281" cy="864019"/>
          </a:xfrm>
          <a:prstGeom prst="rect">
            <a:avLst/>
          </a:prstGeom>
        </p:spPr>
        <p:txBody>
          <a:bodyPr lIns="0" tIns="0" rIns="0" bIns="0" rtlCol="0" anchor="t">
            <a:spAutoFit/>
          </a:bodyPr>
          <a:lstStyle/>
          <a:p>
            <a:pPr algn="ctr">
              <a:lnSpc>
                <a:spcPts val="7699"/>
              </a:lnSpc>
              <a:spcBef>
                <a:spcPct val="0"/>
              </a:spcBef>
            </a:pPr>
            <a:r>
              <a:rPr lang="en-US" sz="5499" b="1" u="sng" dirty="0">
                <a:solidFill>
                  <a:srgbClr val="0070C0"/>
                </a:solidFill>
                <a:latin typeface="Futura Bold"/>
                <a:ea typeface="Futura Bold"/>
                <a:cs typeface="Futura Bold"/>
                <a:sym typeface="Futura Bold"/>
                <a:hlinkClick r:id="rId11" tooltip="https://github.com/Mutiur03/QSync_2207097_Desktop">
                  <a:extLst>
                    <a:ext uri="{A12FA001-AC4F-418D-AE19-62706E023703}">
                      <ahyp:hlinkClr xmlns:ahyp="http://schemas.microsoft.com/office/drawing/2018/hyperlinkcolor" val="tx"/>
                    </a:ext>
                  </a:extLst>
                </a:hlinkClick>
              </a:rPr>
              <a:t>DESKTOP GITHUB REPO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275</Words>
  <Application>Microsoft Office PowerPoint</Application>
  <PresentationFormat>Custom</PresentationFormat>
  <Paragraphs>73</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Calibri</vt:lpstr>
      <vt:lpstr>Arial</vt:lpstr>
      <vt:lpstr>Futura Bold</vt:lpstr>
      <vt:lpstr>Varela Round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dc:title>
  <cp:lastModifiedBy>Mutiur Rahman</cp:lastModifiedBy>
  <cp:revision>2</cp:revision>
  <dcterms:created xsi:type="dcterms:W3CDTF">2006-08-16T00:00:00Z</dcterms:created>
  <dcterms:modified xsi:type="dcterms:W3CDTF">2026-01-12T08:35:45Z</dcterms:modified>
  <dc:identifier>DAG-IsWluQ0</dc:identifier>
</cp:coreProperties>
</file>